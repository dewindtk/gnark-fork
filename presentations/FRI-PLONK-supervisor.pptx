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17"/>
    <p:sldId id="260" r:id="rId6"/>
    <p:sldId id="261" r:id="rId7"/>
    <p:sldId id="262" r:id="rId8"/>
    <p:sldId id="263" r:id="rId9"/>
    <p:sldId id="264" r:id="rId10"/>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c299970c-7f37-76d6-18e6-7416be5bb1aa}">
          <p14:sldIdLst>
            <p14:sldId id="256"/>
          </p14:sldIdLst>
        </p14:section>
        <p14:section name="Corrections" id="{29e2dfad-de55-cd0b-fd2f-90e1c8dc9e34}">
          <p14:sldIdLst>
            <p14:sldId id="257"/>
          </p14:sldIdLst>
        </p14:section>
        <p14:section name="Batched opening" id="{d307dfbb-8663-d196-d09e-838c294865a8}">
          <p14:sldIdLst>
            <p14:sldId id="258"/>
          </p14:sldIdLst>
        </p14:section>
        <p14:section name="Testing" id="{2342a9c1-c4d1-31e9-6ab8-0d8d585716b4}">
          <p14:sldIdLst>
            <p14:sldId id="259"/>
            <p14:sldId id="260"/>
          </p14:sldIdLst>
        </p14:section>
        <p14:section name="Our FRI implementation" id="{fa4f895e-5c6e-8816-9eef-c0ed318a6978}">
          <p14:sldIdLst>
            <p14:sldId id="261"/>
            <p14:sldId id="262"/>
            <p14:sldId id="263"/>
          </p14:sldIdLst>
        </p14:section>
        <p14:section name="Results and outlook" id="{aac6c0f0-2972-3046-e25c-8a52c3bd31f2}">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point: gnark ships only KZG-based PLONK, which needs a trusted setup and is not post-quantum. gnark had a FRI-based PLONK backend, deleted in 2024 (commit 1ed22f78). We restored it on bn254 (backend/plonkfri, internal/nativefri).
The presentation follows what we did, in order:
1. Restored the backend and corrected it; the table lists each change with its justification (slide 2).
2. Rebuilt the opening: one batched DEEP-FRI opening instead of 18 separate FRI proofs (slide 3).
3. Tested soundness with attack tests, explained how zero-knowledge is achieved, and tested it; each test fails before its fix and passes after it (slides 4–6).
4. Worked through our FRI implementation in detail: inputs, reduction to one degree test, folding and queries (slides 7–9).
Then the comparison with KZG and next steps (slide 10).
Status: 128-bit soundness proven up to the Johnson bound; honest-verifier zero-knowledge following HK24; gnark's circuit suite 30/30 (2 skipped: BSB22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are in resources/ and summarised in PROJECT.md.
Restoration defects (found when the restored code was first run): BuildProofOfProximity never set ProofOfProximity.ID, which prove and verify bind into the transcript, so every challenge was independent of the actual commitment; the initial Merkle root is now bound. On circuits with one or two constraints, z (blinded with 3 coefficients) has n + 3 coefficients, but the FRI bound was NextPow2(n + 2): 884 of 1000 honest proofs were rejected, depending on the blinding. A minimum circuit domain of 4 keeps all invariants; the tiny-circuit test now accepts all honest proofs.
Fold once: the restored code re-ran the full folding for every query round. With 43 queries, building one FRI proof went from 24 ms to 969 ms (41×). FRI is now one commit phase followed by all queries, answered from the same layer trees.
Query count: proven per-query error √ρ = 1/√8, i.e. 1.5 bits; 128 bits need s = 2λ/log2(1/ρ) = 86 queries (BCIKS20 Thm 8.3, restated as Haböck 2022-1216 Thm 2). The conjectured regime would need 43.
ζ: PLONK's final check relies on Schwartz–Zippel over the full field. DEEP (2019-336; Haböck §4.1, Protocol 3, Thm 8) reduces an evaluation at an arbitrary point to a low-degree test of a quotient.
Coset: Haböck §3.7; FRI over a·D is equivalent to subgroup FRI on q(a·X), so the folding code is reused.
Fiat–Shamir: Dao, Miller, Wright, Grubbs 2023 (2023-691) — binding only the prover's messages has broken deployed systems; we bind the verifying-key digest, the public inputs, every root and every claim. Fiat–Shamir security of FRI: Block et al. 2023-1071.
Zero-knowledge: Haböck and Al Kindi 2024 (2024-1037): Lemma 1 (witness blinding), Protocol 2 / Lemma 2 (mask polynomial), §4.1 / Lemma 4 (randomized quotient split). Our blinding count, 2·(1 + 86) = 174, matches their eq.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(restored backend/plonkfri): one complete FRI proof per committed polynomial, 18 in total (ql, qr, qm, qo, qk, l, r, o, h1–h3, s1–s3, id1–id3, z); z was opened at two points from its proof. Openings were only possible at points of the FRI domain, so ζ was derived as g^position.
After (internal/nativefri/batch.go): the 16 claims f_t(z_t) = v_t are combined as q = R + Σ λ^t·(f_t − v_t)/(X − z_t), and FRI runs once on q (details on slide 8). Because each claim enters through the quotient (f_t − v_t)/(X − z_t), the evaluation point can be any field element outside the FRI domain; this is what allows ζ to be drawn from the whole field.
Trees: four per proof — Pre (8 preprocessed polynomials, committed at setup), LRO, Z, H — plus the mask tree. Grouping all values of a round into one leaf (ethSTARK 2021-582 §3.5) means a query needs one authentication path per round instead of one per polynomial. The identity polynomials are no longer committed; the verifier computes them.
Measured with the same circuit (gnark refCircuit) and machine. Estimate before implementation: 0.9 MB; measured 0.84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attack tests are in backend/plonkfri/bn254/attack_test.go and internal/nativefri/batch_test.go.
Random vector: with one query, a uniformly random vector passed in about 1 of 8 trials (≈ 3 bits). After Fix A: 0 of 600.
Opened value: VerifyOpening checked the Merkle path, but verify.go used a separate ClaimedValue field; a prover could solve the PLONK identity for h(ζ) and pass with probability 1. Found by re-reading the code; the regression test was written first.
ζ in the circuit domain: false statement X² = 5 (5 is not a square). Predicted rate 1/16 · (n − 1)/n = 4.69 % for n = 4; measured 36/800 = 4.5 %. The match confirms the cause, not just a correlation.
False evaluation at ζ: the cheater solves h1(ζ) from the identity so that PLONK's check holds by construction; FRI folding rejects all 200 attempts. Together with the previous row this shows each check catches its own attack.
Mask: committing R = P − Q0 for a false quotient Q0 cancels the error if R shares λ^0 with a claim. The test also fails if the attack stops working in the unsafe variant, so it cannot become vacuous.
The two restoration defects (unbound challenges, rejected honest proofs on tiny circuits) are listed on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a statistical test: every 254-bit field element looks random, so sampling cannot distinguish a leaking proof from a hiding one. TestRevealedValuesAreUniform (backend/plonkfri/bn254/zk_test.go) instead checks the exact condition of HK24 Lemma 1: full row rank of the matrix [B(x_i)·x_i^j] over the distinct points the proof actually reveals, where B is Z_H for l, r, o, z and X^k for the quotient pieces. It also checks that the prover really outputs n + b coefficients, so it measures the prover rather than a constant. It was written to fail before Fix C.
Before: 2–3 random coefficients per polynomial, so the rank could not exceed 2–3. After: 174 coefficients for l, r, o, z and 173 for the quotient randomizers; the rank equals the number of revealed points. The counts are 171–172 rather than 174 because some queries coincide.
Wire values: before the coset change, queries landing in the circuit domain revealed raw secret wire values (9, 5 and 11 of 172 values for l, r and o in one proof of a 60-secret-wire circuit). After: none of 516.
The mask R (HK24 Protocol 2) keeps every folded FRI layer uniform; the randomized split hides the quotient pieces without changing the verifier equation. Small circuits grow from 0.19 to 0.43 MB because blinding adds about 400 coefficients regardless of circuit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round 3 the prover calls Open(seed, committed, claims) once.
seed: the bytes returned by PLONK's ζ challenge. FRI starts its own transcript and binds the seed first, so λ, the folding challenges and the query positions depend on everything PLONK bound before; the two transcripts form one Fiat–Shamir chain.
committed: the prover-side objects from the four Commit calls, not only the roots. Each holds the evaluations of its polynomials on the |D| coset points (4096 in the reference instance: a two-constraint circuit with DegreeBound 512), ordered so that x and −x are adjacent, and the full SHA-256 Merkle tree. Leaf sizes: 256 bytes for Pre, 96 for LRO and H, 32 for Z.
claims: two Claim structures grouped by point; each polynomial is referenced by (tree, position in the leaf). Prover and verifier build them with the same function, so both use the same order, which determines each claim's power of λ.
Order of events: commit → derive ζ → evaluate at ζ and ωζ → build claims → Open. The mask R is not an input; Open samples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three steps of Open (internal/nativefri/batch.go), in the order the code executes them.
Step 1 (Open): R is sampled fresh for every proof and committed like any other polynomial: coset FFT on the 4096 points, one value per leaf. 511 coefficients because each quotient has at most 511; R must cover that whole space for q to be uniform (HK24 Lemma 2), and q still stays below the bound of 512.
Step 2 (bindStatement): a new Fiat–Shamir transcript with challenges λ, ξ0 … ξ8, s0 in fixed order. λ hashes the seed (PLONK's ζ output), the mask root, each commitment's root and polynomial count, and every claim: point, (tree, column) reference and value. Example of the cancellation this prevents: two false claims at ζ with errors δ1, δ2 cancel exactly when δ2 = −δ1/λ. R receives coefficient λ^0 and the claims λ^1 … λ^16; if R shared a coefficient with a claim, a prover could commit R = P − Q0 and hide a false quotient (50/50 forgeries in that variant, 0/50 in ours).
Step 3: computed only as values, in sibling order (x, −x). For each claim point: one batch inversion of (x − z). For each of the 16 polynomials: one multiply-add per point using the values stored at commit time. Factor theorem: (f − v)/(X − z) is a polynomial iff f(z) = v; a false claim leaves a quotient that agrees with any polynomial of degree &lt; 512 on at most 511 of 4096 points. Measured on a reduced instance: honest q had 15 coefficients against a bound of 16; one false claim produced a full-length 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(commit phase): P(X) = P_even(X²) + X·P_odd(X²); the pair P(y), P(−y) gives both halves at y², and the next layer is P_even + ξ·P_odd. If either half exceeds the bound, so does the combination, except for a negligible set of ξ. Layer 0 (q) is not committed; layers 1–8 are committed one value per leaf; ξ_i = H(x_i ‖ ξ_(i−1) ‖ root_i). No new evaluation happens: two stored values produce one. In the code the coset is handled by folding q(a·X) over the subgroup D (Haböck §3.7). Measured on a reduced instance: within the bound the final layer is constant; one coefficient too many and it is not.
Step 5 (query phase): s0 = H(ξ8 ‖ final value); positions H(s0 ‖ j) mod 4096 for j &lt; 86. Because y and −y are sibling leaves, one path opens both. Per query: 5 + 8 = 13 pair openings, about 5 KB; 86 queries ≈ 430 KB, nearly the whole proof.
Verification (Verify): replays the same transcript to recompute λ, ξ0 … ξ8 and the positions; the verifier never sees q or the polynomials, only the opened values. Per query it holds one expected value after each layer and compares it with the next opened value. Soundness: if q is δ-far from the code with δ below the Johnson bound 1 − √ρ, acceptance ≤ ε_C + (1 − δ)^86 with (1 − δ) ≤ √(1/8); Fiat–Shamir security of FRI per Block et al. 2023-1071.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machine and circuit (gnark refCircuit), after all fixes. Setup 0.79 s vs 0.16 s. At 4,094 constraints: prover 132 ms, verifier 2.8 ms, proof 0.64 MB.
Proof size is the structural cost of FRI: about 5 KB per query × 86 queries.
Next steps: thread safety (Scheme holds one hash instance, so a shared verifying key races), serialization with canonical decoding, consolidated adversarial tests; then proof size (Merkle caps, grinding, optional conjectured-regime parameters) and prover profiling; later an in-circuit verifier with Poseidon2 for recursion, BSB22 commitments and further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Zero-knowledge means the proof shows the computation is correct without revealing the secret inputs.
The verifier only ever looks at each polynomial in a limited number of places: at most 174. If we add 174 random numbers to a polynomial, everything the verifier sees there looks random, so it learns nothing.
Step 1: we add random noise to each secret polynomial. The noise is chosen to be zero exactly on the circuit's rows, so the circuit still checks out.
Step 2: FRI combines everything into one polynomial and folds it. Before it starts, we add one extra random polynomial, so the values FRI reveals are random too.
Step 3: the quotient h is too large to commit at once, so it is cut into three pieces. We add a random amount to one piece and subtract it from the next. Each piece looks random, but the pieces still add up to h, so the verifier's check is the same.
One more detail: on the circuit rows the noise is zero, so FRI must never look there. That is why FRI uses shifted points (slide 2).
Source: Haböck and Al Kindi 2024 (ePrint 2024/1037). The next slide tests that this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91440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SUMMARY</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Overview of the work</a:t>
            </a:r>
            <a:endParaRPr lang="en-US" sz="3200" dirty="0"/>
          </a:p>
        </p:txBody>
      </p:sp>
      <p:sp>
        <p:nvSpPr>
          <p:cNvPr id="4" name="item 1"/>
          <p:cNvSpPr/>
          <p:nvPr/>
        </p:nvSpPr>
        <p:spPr>
          <a:xfrm>
            <a:off x="548640" y="1874520"/>
            <a:ext cx="502920" cy="502920"/>
          </a:xfrm>
          <a:prstGeom prst="ellipse">
            <a:avLst/>
          </a:prstGeom>
          <a:solidFill>
            <a:schemeClr val="tx1"/>
          </a:solidFill>
          <a:ln w="12700">
            <a:solidFill>
              <a:schemeClr val="tx1"/>
            </a:solidFill>
            <a:prstDash val="solid"/>
          </a:ln>
        </p:spPr>
      </p:sp>
      <p:sp>
        <p:nvSpPr>
          <p:cNvPr id="5" name="Text 3"/>
          <p:cNvSpPr txBox="1"/>
          <p:nvPr/>
        </p:nvSpPr>
        <p:spPr>
          <a:xfrm>
            <a:off x="548640" y="1874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280160" y="1828800"/>
            <a:ext cx="566928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Corrections</a:t>
            </a:r>
            <a:pPr indent="0" marL="0">
              <a:buNone/>
            </a:pPr>
            <a:r>
              <a:rPr lang="en-US" sz="1200" dirty="0">
                <a:solidFill>
                  <a:schemeClr val="accent5"/>
                </a:solidFill>
              </a:rPr>
              <a:t>   Slide 2</a:t>
            </a:r>
            <a:endParaRPr lang="en-US" sz="1700" dirty="0"/>
          </a:p>
        </p:txBody>
      </p:sp>
      <p:sp>
        <p:nvSpPr>
          <p:cNvPr id="7" name="Text 5"/>
          <p:cNvSpPr txBox="1"/>
          <p:nvPr/>
        </p:nvSpPr>
        <p:spPr>
          <a:xfrm>
            <a:off x="1280160" y="2212848"/>
            <a:ext cx="5669280"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Corrections to the restored code, each with the defect or published result behind it.</a:t>
            </a:r>
            <a:endParaRPr lang="en-US" sz="1400" dirty="0"/>
          </a:p>
        </p:txBody>
      </p:sp>
      <p:sp>
        <p:nvSpPr>
          <p:cNvPr id="8" name="item 2"/>
          <p:cNvSpPr/>
          <p:nvPr/>
        </p:nvSpPr>
        <p:spPr>
          <a:xfrm>
            <a:off x="548640" y="2971800"/>
            <a:ext cx="502920" cy="502920"/>
          </a:xfrm>
          <a:prstGeom prst="ellipse">
            <a:avLst/>
          </a:prstGeom>
          <a:solidFill>
            <a:schemeClr val="tx1"/>
          </a:solidFill>
          <a:ln w="12700">
            <a:solidFill>
              <a:schemeClr val="tx1"/>
            </a:solidFill>
            <a:prstDash val="solid"/>
          </a:ln>
        </p:spPr>
      </p:sp>
      <p:sp>
        <p:nvSpPr>
          <p:cNvPr id="9" name="Text 7"/>
          <p:cNvSpPr txBox="1"/>
          <p:nvPr/>
        </p:nvSpPr>
        <p:spPr>
          <a:xfrm>
            <a:off x="548640" y="2971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280160" y="2926080"/>
            <a:ext cx="566928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Batched opening</a:t>
            </a:r>
            <a:pPr indent="0" marL="0">
              <a:buNone/>
            </a:pPr>
            <a:r>
              <a:rPr lang="en-US" sz="1200" dirty="0">
                <a:solidFill>
                  <a:schemeClr val="accent5"/>
                </a:solidFill>
              </a:rPr>
              <a:t>   Slide 3</a:t>
            </a:r>
            <a:endParaRPr lang="en-US" sz="1700" dirty="0"/>
          </a:p>
        </p:txBody>
      </p:sp>
      <p:sp>
        <p:nvSpPr>
          <p:cNvPr id="11" name="Text 9"/>
          <p:cNvSpPr txBox="1"/>
          <p:nvPr/>
        </p:nvSpPr>
        <p:spPr>
          <a:xfrm>
            <a:off x="1280160" y="3310128"/>
            <a:ext cx="5669280"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One FRI opening for all evaluation claims instead of 18 separate proofs.</a:t>
            </a:r>
            <a:endParaRPr lang="en-US" sz="1400" dirty="0"/>
          </a:p>
        </p:txBody>
      </p:sp>
      <p:sp>
        <p:nvSpPr>
          <p:cNvPr id="12" name="item 3"/>
          <p:cNvSpPr/>
          <p:nvPr/>
        </p:nvSpPr>
        <p:spPr>
          <a:xfrm>
            <a:off x="548640" y="4069080"/>
            <a:ext cx="502920" cy="502920"/>
          </a:xfrm>
          <a:prstGeom prst="ellipse">
            <a:avLst/>
          </a:prstGeom>
          <a:solidFill>
            <a:schemeClr val="tx1"/>
          </a:solidFill>
          <a:ln w="12700">
            <a:solidFill>
              <a:schemeClr val="tx1"/>
            </a:solidFill>
            <a:prstDash val="solid"/>
          </a:ln>
        </p:spPr>
      </p:sp>
      <p:sp>
        <p:nvSpPr>
          <p:cNvPr id="13" name="Text 11"/>
          <p:cNvSpPr txBox="1"/>
          <p:nvPr/>
        </p:nvSpPr>
        <p:spPr>
          <a:xfrm>
            <a:off x="548640" y="4069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280160" y="4023360"/>
            <a:ext cx="566928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Testing</a:t>
            </a:r>
            <a:pPr indent="0" marL="0">
              <a:buNone/>
            </a:pPr>
            <a:r>
              <a:rPr lang="en-US" sz="1200" dirty="0">
                <a:solidFill>
                  <a:schemeClr val="accent5"/>
                </a:solidFill>
              </a:rPr>
              <a:t>   Slides 4–6</a:t>
            </a:r>
            <a:endParaRPr lang="en-US" sz="1700" dirty="0"/>
          </a:p>
        </p:txBody>
      </p:sp>
      <p:sp>
        <p:nvSpPr>
          <p:cNvPr id="15" name="Text 13"/>
          <p:cNvSpPr txBox="1"/>
          <p:nvPr/>
        </p:nvSpPr>
        <p:spPr>
          <a:xfrm>
            <a:off x="1280160" y="4407408"/>
            <a:ext cx="5669280"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Attack tests for soundness; how zero-knowledge is achieved and tested.</a:t>
            </a:r>
            <a:endParaRPr lang="en-US" sz="1400" dirty="0"/>
          </a:p>
        </p:txBody>
      </p:sp>
      <p:sp>
        <p:nvSpPr>
          <p:cNvPr id="16" name="item 4"/>
          <p:cNvSpPr/>
          <p:nvPr/>
        </p:nvSpPr>
        <p:spPr>
          <a:xfrm>
            <a:off x="548640" y="5166360"/>
            <a:ext cx="502920" cy="502920"/>
          </a:xfrm>
          <a:prstGeom prst="ellipse">
            <a:avLst/>
          </a:prstGeom>
          <a:solidFill>
            <a:schemeClr val="tx1"/>
          </a:solidFill>
          <a:ln w="12700">
            <a:solidFill>
              <a:schemeClr val="tx1"/>
            </a:solidFill>
            <a:prstDash val="solid"/>
          </a:ln>
        </p:spPr>
      </p:sp>
      <p:sp>
        <p:nvSpPr>
          <p:cNvPr id="17" name="Text 15"/>
          <p:cNvSpPr txBox="1"/>
          <p:nvPr/>
        </p:nvSpPr>
        <p:spPr>
          <a:xfrm>
            <a:off x="548640" y="5166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280160" y="5120640"/>
            <a:ext cx="566928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Our FRI implementation</a:t>
            </a:r>
            <a:pPr indent="0" marL="0">
              <a:buNone/>
            </a:pPr>
            <a:r>
              <a:rPr lang="en-US" sz="1200" dirty="0">
                <a:solidFill>
                  <a:schemeClr val="accent5"/>
                </a:solidFill>
              </a:rPr>
              <a:t>   Slides 7–9</a:t>
            </a:r>
            <a:endParaRPr lang="en-US" sz="1700" dirty="0"/>
          </a:p>
        </p:txBody>
      </p:sp>
      <p:sp>
        <p:nvSpPr>
          <p:cNvPr id="19" name="Text 17"/>
          <p:cNvSpPr txBox="1"/>
          <p:nvPr/>
        </p:nvSpPr>
        <p:spPr>
          <a:xfrm>
            <a:off x="1280160" y="5504688"/>
            <a:ext cx="5669280"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Step-by-step walk-through of the opening as implemented.</a:t>
            </a:r>
            <a:endParaRPr lang="en-US" sz="1400" dirty="0"/>
          </a:p>
        </p:txBody>
      </p:sp>
      <p:sp>
        <p:nvSpPr>
          <p:cNvPr id="20" name="card"/>
          <p:cNvSpPr/>
          <p:nvPr/>
        </p:nvSpPr>
        <p:spPr>
          <a:xfrm>
            <a:off x="7223760" y="1828800"/>
            <a:ext cx="4419295" cy="4343400"/>
          </a:xfrm>
          <a:prstGeom prst="roundRect">
            <a:avLst>
              <a:gd name="adj" fmla="val 1684"/>
            </a:avLst>
          </a:prstGeom>
          <a:solidFill>
            <a:schemeClr val="bg2"/>
          </a:solidFill>
          <a:ln w="12700">
            <a:solidFill>
              <a:schemeClr val="bg2"/>
            </a:solidFill>
            <a:prstDash val="solid"/>
          </a:ln>
        </p:spPr>
      </p:sp>
      <p:sp>
        <p:nvSpPr>
          <p:cNvPr id="21" name="Text 19"/>
          <p:cNvSpPr txBox="1"/>
          <p:nvPr/>
        </p:nvSpPr>
        <p:spPr>
          <a:xfrm>
            <a:off x="548640" y="5989320"/>
            <a:ext cx="6400800" cy="2743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Scope chosen for v1: bn254 scalar field, SHA-256, native (out-of-circuit) verifier.</a:t>
            </a:r>
            <a:endParaRPr lang="en-US" sz="1200" dirty="0"/>
          </a:p>
        </p:txBody>
      </p:sp>
      <p:sp>
        <p:nvSpPr>
          <p:cNvPr id="22" name="Text 20"/>
          <p:cNvSpPr txBox="1"/>
          <p:nvPr/>
        </p:nvSpPr>
        <p:spPr>
          <a:xfrm>
            <a:off x="7498080" y="1965960"/>
            <a:ext cx="4023360" cy="27432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Result at 65,534 constraints</a:t>
            </a:r>
            <a:endParaRPr lang="en-US" sz="1300" dirty="0"/>
          </a:p>
        </p:txBody>
      </p:sp>
      <p:sp>
        <p:nvSpPr>
          <p:cNvPr id="23" name="Text 21"/>
          <p:cNvSpPr txBox="1"/>
          <p:nvPr/>
        </p:nvSpPr>
        <p:spPr>
          <a:xfrm>
            <a:off x="7498080" y="2240280"/>
            <a:ext cx="2011680" cy="73152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128 bits</a:t>
            </a:r>
            <a:endParaRPr lang="en-US" sz="4000" dirty="0"/>
          </a:p>
        </p:txBody>
      </p:sp>
      <p:sp>
        <p:nvSpPr>
          <p:cNvPr id="24" name="Text 22"/>
          <p:cNvSpPr txBox="1"/>
          <p:nvPr/>
        </p:nvSpPr>
        <p:spPr>
          <a:xfrm>
            <a:off x="7498080" y="3017520"/>
            <a:ext cx="2011680" cy="292608"/>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Soundness bound</a:t>
            </a:r>
            <a:endParaRPr lang="en-US" sz="1400" dirty="0"/>
          </a:p>
        </p:txBody>
      </p:sp>
      <p:sp>
        <p:nvSpPr>
          <p:cNvPr id="25" name="Text 23"/>
          <p:cNvSpPr txBox="1"/>
          <p:nvPr/>
        </p:nvSpPr>
        <p:spPr>
          <a:xfrm>
            <a:off x="7498080" y="3310128"/>
            <a:ext cx="2011680" cy="2743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Classical, Johnson bound</a:t>
            </a:r>
            <a:endParaRPr lang="en-US" sz="1200" dirty="0"/>
          </a:p>
        </p:txBody>
      </p:sp>
      <p:sp>
        <p:nvSpPr>
          <p:cNvPr id="26" name="Text 24"/>
          <p:cNvSpPr txBox="1"/>
          <p:nvPr/>
        </p:nvSpPr>
        <p:spPr>
          <a:xfrm>
            <a:off x="9601200" y="2240280"/>
            <a:ext cx="2011680" cy="731520"/>
          </a:xfrm>
          <a:prstGeom prst="rect">
            <a:avLst/>
          </a:prstGeom>
          <a:noFill/>
          <a:ln/>
        </p:spPr>
        <p:txBody>
          <a:bodyPr wrap="square" lIns="0" tIns="0" rIns="0" bIns="0" rtlCol="0" anchor="b"/>
          <a:lstStyle/>
          <a:p>
            <a:pPr indent="0" marL="0">
              <a:buNone/>
            </a:pPr>
            <a:r>
              <a:rPr lang="en-US" sz="4000" b="1" dirty="0">
                <a:solidFill>
                  <a:schemeClr val="accent3"/>
                </a:solidFill>
                <a:latin typeface="Cambria" pitchFamily="34" charset="0"/>
                <a:ea typeface="Cambria" pitchFamily="34" charset="-122"/>
                <a:cs typeface="Cambria" pitchFamily="34" charset="-120"/>
              </a:rPr>
              <a:t>0.90 MB</a:t>
            </a:r>
            <a:endParaRPr lang="en-US" sz="4000" dirty="0"/>
          </a:p>
        </p:txBody>
      </p:sp>
      <p:sp>
        <p:nvSpPr>
          <p:cNvPr id="27" name="Text 25"/>
          <p:cNvSpPr txBox="1"/>
          <p:nvPr/>
        </p:nvSpPr>
        <p:spPr>
          <a:xfrm>
            <a:off x="9601200" y="3017520"/>
            <a:ext cx="2011680" cy="292608"/>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Proof size</a:t>
            </a:r>
            <a:endParaRPr lang="en-US" sz="1400" dirty="0"/>
          </a:p>
        </p:txBody>
      </p:sp>
      <p:sp>
        <p:nvSpPr>
          <p:cNvPr id="28" name="Text 26"/>
          <p:cNvSpPr txBox="1"/>
          <p:nvPr/>
        </p:nvSpPr>
        <p:spPr>
          <a:xfrm>
            <a:off x="9601200" y="3310128"/>
            <a:ext cx="2011680" cy="2743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KZG PLONK: &lt; 1 KB</a:t>
            </a:r>
            <a:endParaRPr lang="en-US" sz="1200" dirty="0"/>
          </a:p>
        </p:txBody>
      </p:sp>
      <p:sp>
        <p:nvSpPr>
          <p:cNvPr id="29" name="Text 27"/>
          <p:cNvSpPr txBox="1"/>
          <p:nvPr/>
        </p:nvSpPr>
        <p:spPr>
          <a:xfrm>
            <a:off x="7498080" y="4160520"/>
            <a:ext cx="2011680" cy="73152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2.10 s</a:t>
            </a:r>
            <a:endParaRPr lang="en-US" sz="4000" dirty="0"/>
          </a:p>
        </p:txBody>
      </p:sp>
      <p:sp>
        <p:nvSpPr>
          <p:cNvPr id="30" name="Text 28"/>
          <p:cNvSpPr txBox="1"/>
          <p:nvPr/>
        </p:nvSpPr>
        <p:spPr>
          <a:xfrm>
            <a:off x="7498080" y="4937760"/>
            <a:ext cx="2011680" cy="292608"/>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Prover time</a:t>
            </a:r>
            <a:endParaRPr lang="en-US" sz="1400" dirty="0"/>
          </a:p>
        </p:txBody>
      </p:sp>
      <p:sp>
        <p:nvSpPr>
          <p:cNvPr id="31" name="Text 29"/>
          <p:cNvSpPr txBox="1"/>
          <p:nvPr/>
        </p:nvSpPr>
        <p:spPr>
          <a:xfrm>
            <a:off x="7498080" y="5230368"/>
            <a:ext cx="2011680" cy="2743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KZG PLONK: 0.65 s</a:t>
            </a:r>
            <a:endParaRPr lang="en-US" sz="1200" dirty="0"/>
          </a:p>
        </p:txBody>
      </p:sp>
      <p:sp>
        <p:nvSpPr>
          <p:cNvPr id="32" name="Text 30"/>
          <p:cNvSpPr txBox="1"/>
          <p:nvPr/>
        </p:nvSpPr>
        <p:spPr>
          <a:xfrm>
            <a:off x="9601200" y="4160520"/>
            <a:ext cx="2011680" cy="73152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4.9 ms</a:t>
            </a:r>
            <a:endParaRPr lang="en-US" sz="4000" dirty="0"/>
          </a:p>
        </p:txBody>
      </p:sp>
      <p:sp>
        <p:nvSpPr>
          <p:cNvPr id="33" name="Text 31"/>
          <p:cNvSpPr txBox="1"/>
          <p:nvPr/>
        </p:nvSpPr>
        <p:spPr>
          <a:xfrm>
            <a:off x="9601200" y="4937760"/>
            <a:ext cx="2011680" cy="292608"/>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Verifier time</a:t>
            </a:r>
            <a:endParaRPr lang="en-US" sz="1400" dirty="0"/>
          </a:p>
        </p:txBody>
      </p:sp>
      <p:sp>
        <p:nvSpPr>
          <p:cNvPr id="34" name="Text 32"/>
          <p:cNvSpPr txBox="1"/>
          <p:nvPr/>
        </p:nvSpPr>
        <p:spPr>
          <a:xfrm>
            <a:off x="9601200" y="5230368"/>
            <a:ext cx="2011680" cy="2743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KZG PLONK: 1.3 ms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1 · CORRECTIONS</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Overview of the corrections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108960"/>
                <a:gridCol w="5303520"/>
                <a:gridCol w="2681935"/>
              </a:tblGrid>
              <a:tr h="42062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Justification</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r>
              <a:tr h="42062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Fiat–Shamir challenges bound to the commitment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Restoration defect: the proof identifier was never set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Challenges depend on the committed polynomials</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42062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Minimum circuit domain size of 4</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Restoration defect: z has n + 3 coefficients; the degree bound admitted n + 2</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884 of 1000 honest proofs rejected → none</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FRI queries: 1 → 86</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Proven soundness up to the Johnson bound (BCIKS20, Thm 8.3)</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 → 128 bits</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42062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Fold once, then answer all queries</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Standard FRI: one commit phase, then all queries (Haböck §3)</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Previously 41× the cost per proof at 43 queries</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ζ sampled from the whole field</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Schwartz–Zippel needs a random field point; DEEP quotients open there (DEEP-FRI; Haböck §4.1)</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Closes the forgery on slide 4</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FRI evaluated on a coset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Coset disjoint from the circuit domain (Haböck §3.7)</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Queries no longer reveal wire values</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42062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Full statement bound in the transcript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Strong Fiat–Shamir (Dao et al. 2023, Def. 3)</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Challenges depend on the full statement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Blinding, mask, randomized split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HK24, Lemmas 1, 2 and 4</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Zero-knowledge</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2 · OPENING</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Batched Openings</a:t>
            </a:r>
            <a:endParaRPr lang="en-US" sz="3200" dirty="0"/>
          </a:p>
        </p:txBody>
      </p:sp>
      <p:sp>
        <p:nvSpPr>
          <p:cNvPr id="4" name="before"/>
          <p:cNvSpPr/>
          <p:nvPr/>
        </p:nvSpPr>
        <p:spPr>
          <a:xfrm>
            <a:off x="548640" y="1508760"/>
            <a:ext cx="5410048" cy="2240280"/>
          </a:xfrm>
          <a:prstGeom prst="roundRect">
            <a:avLst>
              <a:gd name="adj" fmla="val 3265"/>
            </a:avLst>
          </a:prstGeom>
          <a:solidFill>
            <a:schemeClr val="bg2"/>
          </a:solidFill>
          <a:ln w="12700">
            <a:solidFill>
              <a:schemeClr val="bg2"/>
            </a:solidFill>
            <a:prstDash val="solid"/>
          </a:ln>
        </p:spPr>
      </p:sp>
      <p:sp>
        <p:nvSpPr>
          <p:cNvPr id="5" name="Text 3"/>
          <p:cNvSpPr txBox="1"/>
          <p:nvPr/>
        </p:nvSpPr>
        <p:spPr>
          <a:xfrm>
            <a:off x="822960" y="1645920"/>
            <a:ext cx="4861408" cy="36576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Before: one FRI proof per polynomial</a:t>
            </a:r>
            <a:endParaRPr lang="en-US" sz="1800" dirty="0"/>
          </a:p>
        </p:txBody>
      </p:sp>
      <p:sp>
        <p:nvSpPr>
          <p:cNvPr id="6" name="Text 4"/>
          <p:cNvSpPr txBox="1"/>
          <p:nvPr/>
        </p:nvSpPr>
        <p:spPr>
          <a:xfrm>
            <a:off x="822960" y="2103120"/>
            <a:ext cx="4861408" cy="16002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Every committed polynomial had its own complete FRI proof, with its own Merkle trees and folding: 18 FRI proofs per PLONK proof.</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Proof size and verification time therefore grew with the number of polynomials.</a:t>
            </a:r>
            <a:endParaRPr lang="en-US" sz="1400" dirty="0"/>
          </a:p>
        </p:txBody>
      </p:sp>
      <p:sp>
        <p:nvSpPr>
          <p:cNvPr id="7" name="after"/>
          <p:cNvSpPr/>
          <p:nvPr/>
        </p:nvSpPr>
        <p:spPr>
          <a:xfrm>
            <a:off x="6233008" y="1508760"/>
            <a:ext cx="5410048" cy="2240280"/>
          </a:xfrm>
          <a:prstGeom prst="roundRect">
            <a:avLst>
              <a:gd name="adj" fmla="val 3265"/>
            </a:avLst>
          </a:prstGeom>
          <a:solidFill>
            <a:schemeClr val="bg2"/>
          </a:solidFill>
          <a:ln w="12700">
            <a:solidFill>
              <a:schemeClr val="bg2"/>
            </a:solidFill>
            <a:prstDash val="solid"/>
          </a:ln>
        </p:spPr>
      </p:sp>
      <p:sp>
        <p:nvSpPr>
          <p:cNvPr id="8" name="Text 6"/>
          <p:cNvSpPr txBox="1"/>
          <p:nvPr/>
        </p:nvSpPr>
        <p:spPr>
          <a:xfrm>
            <a:off x="6507328" y="1645920"/>
            <a:ext cx="4861408"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After: one FRI proof for all claims</a:t>
            </a:r>
            <a:endParaRPr lang="en-US" sz="1800" dirty="0"/>
          </a:p>
        </p:txBody>
      </p:sp>
      <p:sp>
        <p:nvSpPr>
          <p:cNvPr id="9" name="Text 7"/>
          <p:cNvSpPr txBox="1"/>
          <p:nvPr/>
        </p:nvSpPr>
        <p:spPr>
          <a:xfrm>
            <a:off x="6507328" y="2103120"/>
            <a:ext cx="4861408" cy="16002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The 16 evaluation claims (15 polynomials at ζ, z at ωζ) are combined into one polynomial q, and a single FRI proof is produced for q.</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Polynomials committed in the same round share one Merkle tree.</a:t>
            </a:r>
            <a:endParaRPr lang="en-US" sz="1400" dirty="0"/>
          </a:p>
        </p:txBody>
      </p:sp>
      <p:sp>
        <p:nvSpPr>
          <p:cNvPr id="10" name="Text 8"/>
          <p:cNvSpPr txBox="1"/>
          <p:nvPr/>
        </p:nvSpPr>
        <p:spPr>
          <a:xfrm>
            <a:off x="548640" y="3977640"/>
            <a:ext cx="11094415"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Measured at 65,534 constraints</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389120"/>
          <a:ext cx="11094415" cy="914400"/>
        </p:xfrm>
        <a:graphic>
          <a:graphicData uri="http://schemas.openxmlformats.org/drawingml/2006/table">
            <a:tbl>
              <a:tblPr/>
              <a:tblGrid>
                <a:gridCol w="2743200"/>
                <a:gridCol w="4206240"/>
                <a:gridCol w="4144975"/>
              </a:tblGrid>
              <a:tr h="365760">
                <a:tc>
                  <a:txBody>
                    <a:bodyPr/>
                    <a:lstStyle/>
                    <a:p>
                      <a:pP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Before (18 FRI proofs)</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After (1 FRI proof)</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r>
              <a:tr h="36576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Proof size</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4.8 MB</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0.84 MB</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36576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Verifier time</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69 ms</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4.5 ms</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36576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Prover time</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6.8 s</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1.97 s</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bl>
          </a:graphicData>
        </a:graphic>
      </p:graphicFrame>
      <p:sp>
        <p:nvSpPr>
          <p:cNvPr id="12" name="Text 9"/>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These measurements also include two changes made in the same step: ζ is no longer restricted to the FRI domain, and FRI runs on a coset (slide 2).</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3 · TESTING · 1 / 2</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Soundness tests</a:t>
            </a:r>
            <a:endParaRPr lang="en-US" sz="3200" dirty="0"/>
          </a:p>
        </p:txBody>
      </p:sp>
      <p:sp>
        <p:nvSpPr>
          <p:cNvPr id="4" name="Text 2"/>
          <p:cNvSpPr txBox="1"/>
          <p:nvPr/>
        </p:nvSpPr>
        <p:spPr>
          <a:xfrm>
            <a:off x="548640" y="1691640"/>
            <a:ext cx="11094415" cy="41148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gnark's circuit suite (30/30) checks only that honest proofs are accepted, so we added tests in which a cheating prover must be rejected.</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4023360"/>
                <a:gridCol w="2743200"/>
                <a:gridCol w="1645920"/>
                <a:gridCol w="2681935"/>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Attack</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Before fix</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After fix</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Rejected by</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Random vector presented as a codeword</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 1/8 accepted</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0/600</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FRI queries</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Opened value not matching its Merkle leaf</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always accepted</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Merkle check</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False statement with ζ in the circuit domain</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36/800 (predicted 4.69 %)</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0/800</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PLONK identity</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False evaluation at ζ</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0/200</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FRI folding</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Mask sharing a coefficient with a claim</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50/50 (unsafe variant)</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FRI folding</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bl>
          </a:graphicData>
        </a:graphic>
      </p:graphicFrame>
      <p:sp>
        <p:nvSpPr>
          <p:cNvPr id="6" name="takeaway"/>
          <p:cNvSpPr/>
          <p:nvPr/>
        </p:nvSpPr>
        <p:spPr>
          <a:xfrm>
            <a:off x="548640" y="5349240"/>
            <a:ext cx="11094415" cy="685800"/>
          </a:xfrm>
          <a:prstGeom prst="roundRect">
            <a:avLst>
              <a:gd name="adj" fmla="val 10667"/>
            </a:avLst>
          </a:prstGeom>
          <a:solidFill>
            <a:schemeClr val="tx1"/>
          </a:solidFill>
          <a:ln w="12700">
            <a:solidFill>
              <a:schemeClr val="tx1"/>
            </a:solidFill>
            <a:prstDash val="solid"/>
          </a:ln>
        </p:spPr>
      </p:sp>
      <p:sp>
        <p:nvSpPr>
          <p:cNvPr id="7" name="Text 4"/>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600" b="1" dirty="0">
                <a:solidFill>
                  <a:schemeClr val="accent6"/>
                </a:solidFill>
                <a:latin typeface="Calibri" pitchFamily="34" charset="0"/>
                <a:ea typeface="Calibri" pitchFamily="34" charset="-122"/>
                <a:cs typeface="Calibri" pitchFamily="34" charset="-120"/>
              </a:rPr>
              <a:t>Scope:  </a:t>
            </a:r>
            <a:pPr indent="0" marL="0">
              <a:buNone/>
            </a:pPr>
            <a:r>
              <a:rPr lang="en-US" sz="1600" dirty="0">
                <a:solidFill>
                  <a:schemeClr val="bg1"/>
                </a:solidFill>
                <a:latin typeface="Calibri" pitchFamily="34" charset="0"/>
                <a:ea typeface="Calibri" pitchFamily="34" charset="-122"/>
                <a:cs typeface="Calibri" pitchFamily="34" charset="-120"/>
              </a:rPr>
              <a:t>the tests cover the attacks listed. They do not replace a security proof.</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3 · TESTING · 2 / 2</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Zero-knowledge test</a:t>
            </a:r>
            <a:endParaRPr lang="en-US" sz="3200" dirty="0"/>
          </a:p>
        </p:txBody>
      </p:sp>
      <p:sp>
        <p:nvSpPr>
          <p:cNvPr id="4" name="Text 2"/>
          <p:cNvSpPr txBox="1"/>
          <p:nvPr/>
        </p:nvSpPr>
        <p:spPr>
          <a:xfrm>
            <a:off x="548640" y="1783080"/>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What the test checks</a:t>
            </a:r>
            <a:endParaRPr lang="en-US" sz="1800" dirty="0"/>
          </a:p>
        </p:txBody>
      </p:sp>
      <p:sp>
        <p:nvSpPr>
          <p:cNvPr id="5" name="Text 3"/>
          <p:cNvSpPr txBox="1"/>
          <p:nvPr/>
        </p:nvSpPr>
        <p:spPr>
          <a:xfrm>
            <a:off x="548640" y="2240280"/>
            <a:ext cx="5120640" cy="27432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 verifier sees each secret polynomial at up to 174 points: ζ, ωζ and the pair ±y of each of 86 queries</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HK24, Lemma 1: the revealed values are uniform if the blinding map on those points has full rank</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The test generates a real proof, collects the points it reveals, and computes that rank</a:t>
            </a:r>
            <a:endParaRPr lang="en-US" sz="1400" dirty="0"/>
          </a:p>
        </p:txBody>
      </p:sp>
      <p:sp>
        <p:nvSpPr>
          <p:cNvPr id="6" name="Text 4"/>
          <p:cNvSpPr txBox="1"/>
          <p:nvPr/>
        </p:nvSpPr>
        <p:spPr>
          <a:xfrm>
            <a:off x="6035040" y="1783080"/>
            <a:ext cx="5608015"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Measured</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35040" y="2240280"/>
          <a:ext cx="5608015" cy="914400"/>
        </p:xfrm>
        <a:graphic>
          <a:graphicData uri="http://schemas.openxmlformats.org/drawingml/2006/table">
            <a:tbl>
              <a:tblPr/>
              <a:tblGrid>
                <a:gridCol w="2286000"/>
                <a:gridCol w="1554480"/>
                <a:gridCol w="1767535"/>
              </a:tblGrid>
              <a:tr h="457200">
                <a:tc>
                  <a:txBody>
                    <a:bodyPr/>
                    <a:lstStyle/>
                    <a:p>
                      <a:pP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Before</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After</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Rank: l, r, o</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 of 159</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171 of 171</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Rank: z</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 of 160</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172 of 172</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Rank: h₁, h₂</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 of 159</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171 of 171</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Secret wire values revealed</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25 of 516</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 of 516</a:t>
                      </a:r>
                      <a:endParaRPr lang="en-US" sz="14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bl>
          </a:graphicData>
        </a:graphic>
      </p:graphicFrame>
      <p:sp>
        <p:nvSpPr>
          <p:cNvPr id="8" name="takeaway"/>
          <p:cNvSpPr/>
          <p:nvPr/>
        </p:nvSpPr>
        <p:spPr>
          <a:xfrm>
            <a:off x="548640" y="5349240"/>
            <a:ext cx="11094415" cy="685800"/>
          </a:xfrm>
          <a:prstGeom prst="roundRect">
            <a:avLst>
              <a:gd name="adj" fmla="val 10667"/>
            </a:avLst>
          </a:prstGeom>
          <a:solidFill>
            <a:schemeClr val="tx1"/>
          </a:solidFill>
          <a:ln w="12700">
            <a:solidFill>
              <a:schemeClr val="tx1"/>
            </a:solidFill>
            <a:prstDash val="solid"/>
          </a:ln>
        </p:spPr>
      </p:sp>
      <p:sp>
        <p:nvSpPr>
          <p:cNvPr id="9" name="Text 6"/>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600" b="1" dirty="0">
                <a:solidFill>
                  <a:schemeClr val="accent6"/>
                </a:solidFill>
                <a:latin typeface="Calibri" pitchFamily="34" charset="0"/>
                <a:ea typeface="Calibri" pitchFamily="34" charset="-122"/>
                <a:cs typeface="Calibri" pitchFamily="34" charset="-120"/>
              </a:rPr>
              <a:t>Cost:  </a:t>
            </a:r>
            <a:pPr indent="0" marL="0">
              <a:buNone/>
            </a:pPr>
            <a:r>
              <a:rPr lang="en-US" sz="1600" dirty="0">
                <a:solidFill>
                  <a:schemeClr val="bg1"/>
                </a:solidFill>
                <a:latin typeface="Calibri" pitchFamily="34" charset="0"/>
                <a:ea typeface="Calibri" pitchFamily="34" charset="-122"/>
                <a:cs typeface="Calibri" pitchFamily="34" charset="-120"/>
              </a:rPr>
              <a:t>+60 KB proof size and +7 % prover time at 65,534 constraints. The property shown is honest-verifier zero-knowledge.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4 · OUR FRI IMPLEMENTATION · 1 / 3</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Inputs to the opening</a:t>
            </a:r>
            <a:endParaRPr lang="en-US" sz="3200" dirty="0"/>
          </a:p>
        </p:txBody>
      </p:sp>
      <p:sp>
        <p:nvSpPr>
          <p:cNvPr id="4" name="col seed"/>
          <p:cNvSpPr/>
          <p:nvPr/>
        </p:nvSpPr>
        <p:spPr>
          <a:xfrm>
            <a:off x="548640" y="1783080"/>
            <a:ext cx="3515258" cy="2743200"/>
          </a:xfrm>
          <a:prstGeom prst="roundRect">
            <a:avLst>
              <a:gd name="adj" fmla="val 2667"/>
            </a:avLst>
          </a:prstGeom>
          <a:solidFill>
            <a:schemeClr val="bg2"/>
          </a:solidFill>
          <a:ln w="12700">
            <a:solidFill>
              <a:schemeClr val="bg2"/>
            </a:solidFill>
            <a:prstDash val="solid"/>
          </a:ln>
        </p:spPr>
      </p:sp>
      <p:sp>
        <p:nvSpPr>
          <p:cNvPr id="5" name="Text 3"/>
          <p:cNvSpPr txBox="1"/>
          <p:nvPr/>
        </p:nvSpPr>
        <p:spPr>
          <a:xfrm>
            <a:off x="777240" y="1965960"/>
            <a:ext cx="3058058" cy="32004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seed</a:t>
            </a:r>
            <a:endParaRPr lang="en-US" sz="1600" dirty="0"/>
          </a:p>
        </p:txBody>
      </p:sp>
      <p:sp>
        <p:nvSpPr>
          <p:cNvPr id="6" name="Text 4"/>
          <p:cNvSpPr txBox="1"/>
          <p:nvPr/>
        </p:nvSpPr>
        <p:spPr>
          <a:xfrm>
            <a:off x="777240" y="2377440"/>
            <a:ext cx="3058058" cy="201168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Calibri" pitchFamily="34" charset="0"/>
                <a:ea typeface="Calibri" pitchFamily="34" charset="-122"/>
                <a:cs typeface="Calibri" pitchFamily="34" charset="-120"/>
              </a:rPr>
              <a:t>The output of PLONK's ζ challenge.</a:t>
            </a:r>
            <a:endParaRPr lang="en-US" sz="1400" dirty="0"/>
          </a:p>
          <a:p>
            <a:pPr indent="0" marL="0">
              <a:spcAft>
                <a:spcPts val="800"/>
              </a:spcAft>
              <a:buNone/>
            </a:pPr>
            <a:r>
              <a:rPr lang="en-US" sz="1400" dirty="0">
                <a:solidFill>
                  <a:schemeClr val="tx1"/>
                </a:solidFill>
                <a:latin typeface="Calibri" pitchFamily="34" charset="0"/>
                <a:ea typeface="Calibri" pitchFamily="34" charset="-122"/>
                <a:cs typeface="Calibri" pitchFamily="34" charset="-120"/>
              </a:rPr>
              <a:t>It links every FRI challenge to the PLONK transcript: verifying key, public inputs, and the roots of l, r, o, z and h.</a:t>
            </a:r>
            <a:endParaRPr lang="en-US" sz="1400" dirty="0"/>
          </a:p>
        </p:txBody>
      </p:sp>
      <p:sp>
        <p:nvSpPr>
          <p:cNvPr id="7" name="col committed"/>
          <p:cNvSpPr/>
          <p:nvPr/>
        </p:nvSpPr>
        <p:spPr>
          <a:xfrm>
            <a:off x="4338218" y="1783080"/>
            <a:ext cx="3515258" cy="2743200"/>
          </a:xfrm>
          <a:prstGeom prst="roundRect">
            <a:avLst>
              <a:gd name="adj" fmla="val 2667"/>
            </a:avLst>
          </a:prstGeom>
          <a:solidFill>
            <a:schemeClr val="bg2"/>
          </a:solidFill>
          <a:ln w="12700">
            <a:solidFill>
              <a:schemeClr val="bg2"/>
            </a:solidFill>
            <a:prstDash val="solid"/>
          </a:ln>
        </p:spPr>
      </p:sp>
      <p:sp>
        <p:nvSpPr>
          <p:cNvPr id="8" name="Text 6"/>
          <p:cNvSpPr txBox="1"/>
          <p:nvPr/>
        </p:nvSpPr>
        <p:spPr>
          <a:xfrm>
            <a:off x="4566818" y="1965960"/>
            <a:ext cx="3058058" cy="32004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committed</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21098" y="2423160"/>
          <a:ext cx="3149498" cy="914400"/>
        </p:xfrm>
        <a:graphic>
          <a:graphicData uri="http://schemas.openxmlformats.org/drawingml/2006/table">
            <a:tbl>
              <a:tblPr/>
              <a:tblGrid>
                <a:gridCol w="822960"/>
                <a:gridCol w="2326538"/>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Tree</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Polynomials</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Pre</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ql … qk, s1, s2, s3</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LRO</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 r, o</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Z</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z</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h1, h2, h3</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bl>
          </a:graphicData>
        </a:graphic>
      </p:graphicFrame>
      <p:sp>
        <p:nvSpPr>
          <p:cNvPr id="10" name="col claims"/>
          <p:cNvSpPr/>
          <p:nvPr/>
        </p:nvSpPr>
        <p:spPr>
          <a:xfrm>
            <a:off x="8127797" y="1783080"/>
            <a:ext cx="3515258" cy="2743200"/>
          </a:xfrm>
          <a:prstGeom prst="roundRect">
            <a:avLst>
              <a:gd name="adj" fmla="val 2667"/>
            </a:avLst>
          </a:prstGeom>
          <a:solidFill>
            <a:schemeClr val="bg2"/>
          </a:solidFill>
          <a:ln w="12700">
            <a:solidFill>
              <a:schemeClr val="bg2"/>
            </a:solidFill>
            <a:prstDash val="solid"/>
          </a:ln>
        </p:spPr>
      </p:sp>
      <p:sp>
        <p:nvSpPr>
          <p:cNvPr id="11" name="Text 8"/>
          <p:cNvSpPr txBox="1"/>
          <p:nvPr/>
        </p:nvSpPr>
        <p:spPr>
          <a:xfrm>
            <a:off x="8356397" y="1965960"/>
            <a:ext cx="3058058" cy="32004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claims</a:t>
            </a:r>
            <a:endParaRPr lang="en-US" sz="16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8310677" y="2423160"/>
          <a:ext cx="3149498" cy="914400"/>
        </p:xfrm>
        <a:graphic>
          <a:graphicData uri="http://schemas.openxmlformats.org/drawingml/2006/table">
            <a:tbl>
              <a:tblPr/>
              <a:tblGrid>
                <a:gridCol w="731520"/>
                <a:gridCol w="2417978"/>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Point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Statement</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ζ</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15 polynomials, 15 values</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ωζ</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z, 1 value</a:t>
                      </a:r>
                      <a:endParaRPr lang="en-US" sz="12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548640" y="4663440"/>
            <a:ext cx="11094415" cy="457200"/>
          </a:xfrm>
          <a:prstGeom prst="rect">
            <a:avLst/>
          </a:prstGeom>
          <a:noFill/>
          <a:ln/>
        </p:spPr>
        <p:txBody>
          <a:bodyPr wrap="square" lIns="0" tIns="0" rIns="0" bIns="0" rtlCol="0" anchor="t"/>
          <a:lstStyle/>
          <a:p>
            <a:pPr indent="0" marL="0">
              <a:spcAft>
                <a:spcPts val="400"/>
              </a:spcAft>
              <a:buNone/>
            </a:pPr>
            <a:r>
              <a:rPr lang="en-US" sz="1300" dirty="0">
                <a:solidFill>
                  <a:schemeClr val="tx2"/>
                </a:solidFill>
                <a:latin typeface="Calibri" pitchFamily="34" charset="0"/>
                <a:ea typeface="Calibri" pitchFamily="34" charset="-122"/>
                <a:cs typeface="Calibri" pitchFamily="34" charset="-120"/>
              </a:rPr>
              <a:t>Each tree stores, for every point of a·D, the values of its polynomials. The prover keeps the full trees; the verifier receives only the roots.</a:t>
            </a:r>
            <a:endParaRPr lang="en-US" sz="1300" dirty="0"/>
          </a:p>
        </p:txBody>
      </p:sp>
      <p:sp>
        <p:nvSpPr>
          <p:cNvPr id="14" name="takeaway"/>
          <p:cNvSpPr/>
          <p:nvPr/>
        </p:nvSpPr>
        <p:spPr>
          <a:xfrm>
            <a:off x="548640" y="5349240"/>
            <a:ext cx="11094415" cy="822960"/>
          </a:xfrm>
          <a:prstGeom prst="roundRect">
            <a:avLst>
              <a:gd name="adj" fmla="val 8889"/>
            </a:avLst>
          </a:prstGeom>
          <a:solidFill>
            <a:schemeClr val="tx1"/>
          </a:solidFill>
          <a:ln w="12700">
            <a:solidFill>
              <a:schemeClr val="tx1"/>
            </a:solidFill>
            <a:prstDash val="solid"/>
          </a:ln>
        </p:spPr>
      </p:sp>
      <p:sp>
        <p:nvSpPr>
          <p:cNvPr id="15" name="Text 11"/>
          <p:cNvSpPr txBox="1"/>
          <p:nvPr/>
        </p:nvSpPr>
        <p:spPr>
          <a:xfrm>
            <a:off x="822960" y="5349240"/>
            <a:ext cx="10545775" cy="822960"/>
          </a:xfrm>
          <a:prstGeom prst="rect">
            <a:avLst/>
          </a:prstGeom>
          <a:noFill/>
          <a:ln/>
        </p:spPr>
        <p:txBody>
          <a:bodyPr wrap="square" lIns="0" tIns="0" rIns="0" bIns="0" rtlCol="0" anchor="ctr"/>
          <a:lstStyle/>
          <a:p>
            <a:pPr indent="0" marL="0">
              <a:buNone/>
            </a:pPr>
            <a:r>
              <a:rPr lang="en-US" sz="1600" b="1" dirty="0">
                <a:solidFill>
                  <a:schemeClr val="accent6"/>
                </a:solidFill>
                <a:latin typeface="Calibri" pitchFamily="34" charset="0"/>
                <a:ea typeface="Calibri" pitchFamily="34" charset="-122"/>
                <a:cs typeface="Calibri" pitchFamily="34" charset="-120"/>
              </a:rPr>
              <a:t>FRI must prove:  </a:t>
            </a:r>
            <a:pPr indent="0" marL="0">
              <a:buNone/>
            </a:pPr>
            <a:r>
              <a:rPr lang="en-US" sz="1600" dirty="0">
                <a:solidFill>
                  <a:schemeClr val="bg1"/>
                </a:solidFill>
                <a:latin typeface="Calibri" pitchFamily="34" charset="0"/>
                <a:ea typeface="Calibri" pitchFamily="34" charset="-122"/>
                <a:cs typeface="Calibri" pitchFamily="34" charset="-120"/>
              </a:rPr>
              <a:t>the 16 claimed values are the evaluations of the committed polynomials, and those polynomials have bounded degree.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4 · OUR FRI IMPLEMENTATION · 2 / 3</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opening: from claims to q</a:t>
            </a:r>
            <a:endParaRPr lang="en-US" sz="3200" dirty="0"/>
          </a:p>
        </p:txBody>
      </p:sp>
      <p:sp>
        <p:nvSpPr>
          <p:cNvPr id="4" name="Text 2"/>
          <p:cNvSpPr txBox="1"/>
          <p:nvPr/>
        </p:nvSpPr>
        <p:spPr>
          <a:xfrm>
            <a:off x="1234440" y="1417320"/>
            <a:ext cx="164592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Step</a:t>
            </a:r>
            <a:endParaRPr lang="en-US" sz="1200" dirty="0"/>
          </a:p>
        </p:txBody>
      </p:sp>
      <p:sp>
        <p:nvSpPr>
          <p:cNvPr id="5" name="Text 3"/>
          <p:cNvSpPr txBox="1"/>
          <p:nvPr/>
        </p:nvSpPr>
        <p:spPr>
          <a:xfrm>
            <a:off x="3154680" y="1417320"/>
            <a:ext cx="5150815"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Computation</a:t>
            </a:r>
            <a:endParaRPr lang="en-US" sz="1200" dirty="0"/>
          </a:p>
        </p:txBody>
      </p:sp>
      <p:sp>
        <p:nvSpPr>
          <p:cNvPr id="6" name="Text 4"/>
          <p:cNvSpPr txBox="1"/>
          <p:nvPr/>
        </p:nvSpPr>
        <p:spPr>
          <a:xfrm>
            <a:off x="8579815" y="1417320"/>
            <a:ext cx="306324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Purpose</a:t>
            </a:r>
            <a:endParaRPr lang="en-US" sz="1200" dirty="0"/>
          </a:p>
        </p:txBody>
      </p:sp>
      <p:sp>
        <p:nvSpPr>
          <p:cNvPr id="7" name="step 1"/>
          <p:cNvSpPr/>
          <p:nvPr/>
        </p:nvSpPr>
        <p:spPr>
          <a:xfrm>
            <a:off x="548640" y="1783080"/>
            <a:ext cx="11094415" cy="1143000"/>
          </a:xfrm>
          <a:prstGeom prst="roundRect">
            <a:avLst>
              <a:gd name="adj" fmla="val 6400"/>
            </a:avLst>
          </a:prstGeom>
          <a:solidFill>
            <a:schemeClr val="bg2"/>
          </a:solidFill>
          <a:ln w="12700">
            <a:solidFill>
              <a:schemeClr val="bg2"/>
            </a:solidFill>
            <a:prstDash val="solid"/>
          </a:ln>
        </p:spPr>
      </p:sp>
      <p:sp>
        <p:nvSpPr>
          <p:cNvPr id="8" name="num 1"/>
          <p:cNvSpPr/>
          <p:nvPr/>
        </p:nvSpPr>
        <p:spPr>
          <a:xfrm>
            <a:off x="731520" y="1965960"/>
            <a:ext cx="411480" cy="411480"/>
          </a:xfrm>
          <a:prstGeom prst="ellipse">
            <a:avLst/>
          </a:prstGeom>
          <a:solidFill>
            <a:schemeClr val="tx1"/>
          </a:solidFill>
          <a:ln w="12700">
            <a:solidFill>
              <a:schemeClr val="tx1"/>
            </a:solidFill>
            <a:prstDash val="solid"/>
          </a:ln>
        </p:spPr>
      </p:sp>
      <p:sp>
        <p:nvSpPr>
          <p:cNvPr id="9" name="Text 7"/>
          <p:cNvSpPr txBox="1"/>
          <p:nvPr/>
        </p:nvSpPr>
        <p:spPr>
          <a:xfrm>
            <a:off x="731520" y="1965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280160" y="1965960"/>
            <a:ext cx="1600200" cy="7772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Sample the mask</a:t>
            </a:r>
            <a:endParaRPr lang="en-US" sz="1500" dirty="0"/>
          </a:p>
        </p:txBody>
      </p:sp>
      <p:sp>
        <p:nvSpPr>
          <p:cNvPr id="11" name="Text 9"/>
          <p:cNvSpPr txBox="1"/>
          <p:nvPr/>
        </p:nvSpPr>
        <p:spPr>
          <a:xfrm>
            <a:off x="3154680" y="1965960"/>
            <a:ext cx="51508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R with DegreeBound − 1 = 511 random coefficients, evaluated on a·D and committed in its own Merkle tree.</a:t>
            </a:r>
            <a:endParaRPr lang="en-US" sz="1400" dirty="0"/>
          </a:p>
        </p:txBody>
      </p:sp>
      <p:sp>
        <p:nvSpPr>
          <p:cNvPr id="12" name="Text 10"/>
          <p:cNvSpPr txBox="1"/>
          <p:nvPr/>
        </p:nvSpPr>
        <p:spPr>
          <a:xfrm>
            <a:off x="8579815" y="1965960"/>
            <a:ext cx="3063240" cy="86868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Makes every value FRI later reveals uniform (zero-knowledge).</a:t>
            </a:r>
            <a:endParaRPr lang="en-US" sz="1400" dirty="0"/>
          </a:p>
        </p:txBody>
      </p:sp>
      <p:sp>
        <p:nvSpPr>
          <p:cNvPr id="13" name="step 2"/>
          <p:cNvSpPr/>
          <p:nvPr/>
        </p:nvSpPr>
        <p:spPr>
          <a:xfrm>
            <a:off x="548640" y="3090672"/>
            <a:ext cx="11094415" cy="1143000"/>
          </a:xfrm>
          <a:prstGeom prst="roundRect">
            <a:avLst>
              <a:gd name="adj" fmla="val 6400"/>
            </a:avLst>
          </a:prstGeom>
          <a:solidFill>
            <a:schemeClr val="bg2"/>
          </a:solidFill>
          <a:ln w="12700">
            <a:solidFill>
              <a:schemeClr val="bg2"/>
            </a:solidFill>
            <a:prstDash val="solid"/>
          </a:ln>
        </p:spPr>
      </p:sp>
      <p:sp>
        <p:nvSpPr>
          <p:cNvPr id="14" name="num 2"/>
          <p:cNvSpPr/>
          <p:nvPr/>
        </p:nvSpPr>
        <p:spPr>
          <a:xfrm>
            <a:off x="731520" y="3273552"/>
            <a:ext cx="411480" cy="411480"/>
          </a:xfrm>
          <a:prstGeom prst="ellipse">
            <a:avLst/>
          </a:prstGeom>
          <a:solidFill>
            <a:schemeClr val="tx1"/>
          </a:solidFill>
          <a:ln w="12700">
            <a:solidFill>
              <a:schemeClr val="tx1"/>
            </a:solidFill>
            <a:prstDash val="solid"/>
          </a:ln>
        </p:spPr>
      </p:sp>
      <p:sp>
        <p:nvSpPr>
          <p:cNvPr id="15" name="Text 13"/>
          <p:cNvSpPr txBox="1"/>
          <p:nvPr/>
        </p:nvSpPr>
        <p:spPr>
          <a:xfrm>
            <a:off x="731520" y="327355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6" name="Text 14"/>
          <p:cNvSpPr txBox="1"/>
          <p:nvPr/>
        </p:nvSpPr>
        <p:spPr>
          <a:xfrm>
            <a:off x="1280160" y="3273552"/>
            <a:ext cx="1600200" cy="7772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Derive λ</a:t>
            </a:r>
            <a:endParaRPr lang="en-US" sz="1500" dirty="0"/>
          </a:p>
        </p:txBody>
      </p:sp>
      <p:sp>
        <p:nvSpPr>
          <p:cNvPr id="17" name="Text 15"/>
          <p:cNvSpPr txBox="1"/>
          <p:nvPr/>
        </p:nvSpPr>
        <p:spPr>
          <a:xfrm>
            <a:off x="3154680" y="3273552"/>
            <a:ext cx="51508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λ = H(seed ‖ R root ‖ four roots ‖ all 16 claims).</a:t>
            </a:r>
            <a:endParaRPr lang="en-US" sz="1400" dirty="0"/>
          </a:p>
        </p:txBody>
      </p:sp>
      <p:sp>
        <p:nvSpPr>
          <p:cNvPr id="18" name="Text 16"/>
          <p:cNvSpPr txBox="1"/>
          <p:nvPr/>
        </p:nvSpPr>
        <p:spPr>
          <a:xfrm>
            <a:off x="8579815" y="3273552"/>
            <a:ext cx="3063240" cy="86868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Claims and mask are fixed before λ is known, so errors cannot be chosen to cancel.</a:t>
            </a:r>
            <a:endParaRPr lang="en-US" sz="1400" dirty="0"/>
          </a:p>
        </p:txBody>
      </p:sp>
      <p:sp>
        <p:nvSpPr>
          <p:cNvPr id="19" name="step 3"/>
          <p:cNvSpPr/>
          <p:nvPr/>
        </p:nvSpPr>
        <p:spPr>
          <a:xfrm>
            <a:off x="548640" y="4398264"/>
            <a:ext cx="11094415" cy="1143000"/>
          </a:xfrm>
          <a:prstGeom prst="roundRect">
            <a:avLst>
              <a:gd name="adj" fmla="val 6400"/>
            </a:avLst>
          </a:prstGeom>
          <a:solidFill>
            <a:schemeClr val="bg2"/>
          </a:solidFill>
          <a:ln w="12700">
            <a:solidFill>
              <a:schemeClr val="bg2"/>
            </a:solidFill>
            <a:prstDash val="solid"/>
          </a:ln>
        </p:spPr>
      </p:sp>
      <p:sp>
        <p:nvSpPr>
          <p:cNvPr id="20" name="num 3"/>
          <p:cNvSpPr/>
          <p:nvPr/>
        </p:nvSpPr>
        <p:spPr>
          <a:xfrm>
            <a:off x="731520" y="4581144"/>
            <a:ext cx="411480" cy="411480"/>
          </a:xfrm>
          <a:prstGeom prst="ellipse">
            <a:avLst/>
          </a:prstGeom>
          <a:solidFill>
            <a:schemeClr val="tx1"/>
          </a:solidFill>
          <a:ln w="12700">
            <a:solidFill>
              <a:schemeClr val="tx1"/>
            </a:solidFill>
            <a:prstDash val="solid"/>
          </a:ln>
        </p:spPr>
      </p:sp>
      <p:sp>
        <p:nvSpPr>
          <p:cNvPr id="21" name="Text 19"/>
          <p:cNvSpPr txBox="1"/>
          <p:nvPr/>
        </p:nvSpPr>
        <p:spPr>
          <a:xfrm>
            <a:off x="731520" y="458114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22" name="Text 20"/>
          <p:cNvSpPr txBox="1"/>
          <p:nvPr/>
        </p:nvSpPr>
        <p:spPr>
          <a:xfrm>
            <a:off x="1280160" y="4581144"/>
            <a:ext cx="1600200" cy="7772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Build layer 0</a:t>
            </a:r>
            <a:endParaRPr lang="en-US" sz="1500" dirty="0"/>
          </a:p>
        </p:txBody>
      </p:sp>
      <p:sp>
        <p:nvSpPr>
          <p:cNvPr id="23" name="Text 21"/>
          <p:cNvSpPr txBox="1"/>
          <p:nvPr/>
        </p:nvSpPr>
        <p:spPr>
          <a:xfrm>
            <a:off x="3154680" y="4581144"/>
            <a:ext cx="51508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At each of the 4096 points x, from the stored values:</a:t>
            </a:r>
            <a:endParaRPr lang="en-US" sz="14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q(x) = R(x) + Σ λ</a:t>
            </a:r>
            <a:pPr indent="0" marL="0">
              <a:buNone/>
            </a:pPr>
            <a:r>
              <a:rPr lang="en-US" sz="1400" baseline="30000" dirty="0">
                <a:solidFill>
                  <a:schemeClr val="tx1"/>
                </a:solidFill>
                <a:latin typeface="Calibri" pitchFamily="34" charset="0"/>
                <a:ea typeface="Calibri" pitchFamily="34" charset="-122"/>
                <a:cs typeface="Calibri" pitchFamily="34" charset="-120"/>
              </a:rPr>
              <a:t>t</a:t>
            </a:r>
            <a:pPr indent="0" marL="0">
              <a:buNone/>
            </a:pPr>
            <a:r>
              <a:rPr lang="en-US" sz="1400" dirty="0">
                <a:solidFill>
                  <a:schemeClr val="tx1"/>
                </a:solidFill>
                <a:latin typeface="Calibri" pitchFamily="34" charset="0"/>
                <a:ea typeface="Calibri" pitchFamily="34" charset="-122"/>
                <a:cs typeface="Calibri" pitchFamily="34" charset="-120"/>
              </a:rPr>
              <a:t> · (f</a:t>
            </a:r>
            <a:pPr indent="0" marL="0">
              <a:buNone/>
            </a:pPr>
            <a:r>
              <a:rPr lang="en-US" sz="1400" baseline="-40000" dirty="0">
                <a:solidFill>
                  <a:schemeClr val="tx1"/>
                </a:solidFill>
                <a:latin typeface="Calibri" pitchFamily="34" charset="0"/>
                <a:ea typeface="Calibri" pitchFamily="34" charset="-122"/>
                <a:cs typeface="Calibri" pitchFamily="34" charset="-120"/>
              </a:rPr>
              <a:t>t</a:t>
            </a:r>
            <a:pPr indent="0" marL="0">
              <a:buNone/>
            </a:pPr>
            <a:r>
              <a:rPr lang="en-US" sz="1400" dirty="0">
                <a:solidFill>
                  <a:schemeClr val="tx1"/>
                </a:solidFill>
                <a:latin typeface="Calibri" pitchFamily="34" charset="0"/>
                <a:ea typeface="Calibri" pitchFamily="34" charset="-122"/>
                <a:cs typeface="Calibri" pitchFamily="34" charset="-120"/>
              </a:rPr>
              <a:t>(x) − v</a:t>
            </a:r>
            <a:pPr indent="0" marL="0">
              <a:buNone/>
            </a:pPr>
            <a:r>
              <a:rPr lang="en-US" sz="1400" baseline="-40000" dirty="0">
                <a:solidFill>
                  <a:schemeClr val="tx1"/>
                </a:solidFill>
                <a:latin typeface="Calibri" pitchFamily="34" charset="0"/>
                <a:ea typeface="Calibri" pitchFamily="34" charset="-122"/>
                <a:cs typeface="Calibri" pitchFamily="34" charset="-120"/>
              </a:rPr>
              <a:t>t</a:t>
            </a:r>
            <a:pPr indent="0" marL="0">
              <a:buNone/>
            </a:pPr>
            <a:r>
              <a:rPr lang="en-US" sz="1400" dirty="0">
                <a:solidFill>
                  <a:schemeClr val="tx1"/>
                </a:solidFill>
                <a:latin typeface="Calibri" pitchFamily="34" charset="0"/>
                <a:ea typeface="Calibri" pitchFamily="34" charset="-122"/>
                <a:cs typeface="Calibri" pitchFamily="34" charset="-120"/>
              </a:rPr>
              <a:t>) / (x − z</a:t>
            </a:r>
            <a:pPr indent="0" marL="0">
              <a:buNone/>
            </a:pPr>
            <a:r>
              <a:rPr lang="en-US" sz="1400" baseline="-40000" dirty="0">
                <a:solidFill>
                  <a:schemeClr val="tx1"/>
                </a:solidFill>
                <a:latin typeface="Calibri" pitchFamily="34" charset="0"/>
                <a:ea typeface="Calibri" pitchFamily="34" charset="-122"/>
                <a:cs typeface="Calibri" pitchFamily="34" charset="-120"/>
              </a:rPr>
              <a:t>t</a:t>
            </a:r>
            <a:pP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8579815" y="4581144"/>
            <a:ext cx="3063240" cy="86868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q has degree below 512 exactly when all 16 claims hold. q is not committed.</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4 · OUR FRI IMPLEMENTATION · 3 / 3</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opening: folding, queries and verification</a:t>
            </a:r>
            <a:endParaRPr lang="en-US" sz="3200" dirty="0"/>
          </a:p>
        </p:txBody>
      </p:sp>
      <p:sp>
        <p:nvSpPr>
          <p:cNvPr id="4" name="Text 2"/>
          <p:cNvSpPr txBox="1"/>
          <p:nvPr/>
        </p:nvSpPr>
        <p:spPr>
          <a:xfrm>
            <a:off x="1234440" y="1417320"/>
            <a:ext cx="164592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Step</a:t>
            </a:r>
            <a:endParaRPr lang="en-US" sz="1200" dirty="0"/>
          </a:p>
        </p:txBody>
      </p:sp>
      <p:sp>
        <p:nvSpPr>
          <p:cNvPr id="5" name="Text 3"/>
          <p:cNvSpPr txBox="1"/>
          <p:nvPr/>
        </p:nvSpPr>
        <p:spPr>
          <a:xfrm>
            <a:off x="3154680" y="1417320"/>
            <a:ext cx="5150815"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Computation</a:t>
            </a:r>
            <a:endParaRPr lang="en-US" sz="1200" dirty="0"/>
          </a:p>
        </p:txBody>
      </p:sp>
      <p:sp>
        <p:nvSpPr>
          <p:cNvPr id="6" name="Text 4"/>
          <p:cNvSpPr txBox="1"/>
          <p:nvPr/>
        </p:nvSpPr>
        <p:spPr>
          <a:xfrm>
            <a:off x="8579815" y="1417320"/>
            <a:ext cx="306324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Purpose</a:t>
            </a:r>
            <a:endParaRPr lang="en-US" sz="1200" dirty="0"/>
          </a:p>
        </p:txBody>
      </p:sp>
      <p:sp>
        <p:nvSpPr>
          <p:cNvPr id="7" name="step 4"/>
          <p:cNvSpPr/>
          <p:nvPr/>
        </p:nvSpPr>
        <p:spPr>
          <a:xfrm>
            <a:off x="548640" y="1783080"/>
            <a:ext cx="11094415" cy="1325880"/>
          </a:xfrm>
          <a:prstGeom prst="roundRect">
            <a:avLst>
              <a:gd name="adj" fmla="val 5517"/>
            </a:avLst>
          </a:prstGeom>
          <a:solidFill>
            <a:schemeClr val="bg2"/>
          </a:solidFill>
          <a:ln w="12700">
            <a:solidFill>
              <a:schemeClr val="bg2"/>
            </a:solidFill>
            <a:prstDash val="solid"/>
          </a:ln>
        </p:spPr>
      </p:sp>
      <p:sp>
        <p:nvSpPr>
          <p:cNvPr id="8" name="num 4"/>
          <p:cNvSpPr/>
          <p:nvPr/>
        </p:nvSpPr>
        <p:spPr>
          <a:xfrm>
            <a:off x="731520" y="1965960"/>
            <a:ext cx="411480" cy="411480"/>
          </a:xfrm>
          <a:prstGeom prst="ellipse">
            <a:avLst/>
          </a:prstGeom>
          <a:solidFill>
            <a:schemeClr val="tx1"/>
          </a:solidFill>
          <a:ln w="12700">
            <a:solidFill>
              <a:schemeClr val="tx1"/>
            </a:solidFill>
            <a:prstDash val="solid"/>
          </a:ln>
        </p:spPr>
      </p:sp>
      <p:sp>
        <p:nvSpPr>
          <p:cNvPr id="9" name="Text 7"/>
          <p:cNvSpPr txBox="1"/>
          <p:nvPr/>
        </p:nvSpPr>
        <p:spPr>
          <a:xfrm>
            <a:off x="731520" y="1965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4</a:t>
            </a:r>
            <a:endParaRPr lang="en-US" sz="1400" dirty="0"/>
          </a:p>
        </p:txBody>
      </p:sp>
      <p:sp>
        <p:nvSpPr>
          <p:cNvPr id="10" name="Text 8"/>
          <p:cNvSpPr txBox="1"/>
          <p:nvPr/>
        </p:nvSpPr>
        <p:spPr>
          <a:xfrm>
            <a:off x="1280160" y="1965960"/>
            <a:ext cx="1600200" cy="9601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Fold and commit, nine times</a:t>
            </a:r>
            <a:endParaRPr lang="en-US" sz="1500" dirty="0"/>
          </a:p>
        </p:txBody>
      </p:sp>
      <p:sp>
        <p:nvSpPr>
          <p:cNvPr id="11" name="Text 9"/>
          <p:cNvSpPr txBox="1"/>
          <p:nvPr/>
        </p:nvSpPr>
        <p:spPr>
          <a:xfrm>
            <a:off x="3154680" y="1965960"/>
            <a:ext cx="5150815"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Commit the current layer (from layer 1 on), derive ξ</a:t>
            </a:r>
            <a:pPr indent="0" marL="0">
              <a:buNone/>
            </a:pPr>
            <a:r>
              <a:rPr lang="en-US" sz="1400" baseline="-40000" dirty="0">
                <a:solidFill>
                  <a:schemeClr val="tx1"/>
                </a:solidFill>
                <a:latin typeface="Calibri" pitchFamily="34" charset="0"/>
                <a:ea typeface="Calibri" pitchFamily="34" charset="-122"/>
                <a:cs typeface="Calibri" pitchFamily="34" charset="-120"/>
              </a:rPr>
              <a:t>i</a:t>
            </a:r>
            <a:pPr indent="0" marL="0">
              <a:buNone/>
            </a:pPr>
            <a:r>
              <a:rPr lang="en-US" sz="1400" dirty="0">
                <a:solidFill>
                  <a:schemeClr val="tx1"/>
                </a:solidFill>
                <a:latin typeface="Calibri" pitchFamily="34" charset="0"/>
                <a:ea typeface="Calibri" pitchFamily="34" charset="-122"/>
                <a:cs typeface="Calibri" pitchFamily="34" charset="-120"/>
              </a:rPr>
              <a:t>, then fold each pair:</a:t>
            </a:r>
            <a:endParaRPr lang="en-US" sz="14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P′(y²) = (P(y) + P(−y)) / 2 + ξ</a:t>
            </a:r>
            <a:pPr indent="0" marL="0">
              <a:buNone/>
            </a:pPr>
            <a:r>
              <a:rPr lang="en-US" sz="1400" baseline="-40000" dirty="0">
                <a:solidFill>
                  <a:schemeClr val="tx1"/>
                </a:solidFill>
                <a:latin typeface="Calibri" pitchFamily="34" charset="0"/>
                <a:ea typeface="Calibri" pitchFamily="34" charset="-122"/>
                <a:cs typeface="Calibri" pitchFamily="34" charset="-120"/>
              </a:rPr>
              <a:t>i</a:t>
            </a:r>
            <a:pPr indent="0" marL="0">
              <a:buNone/>
            </a:pPr>
            <a:r>
              <a:rPr lang="en-US" sz="1400" dirty="0">
                <a:solidFill>
                  <a:schemeClr val="tx1"/>
                </a:solidFill>
                <a:latin typeface="Calibri" pitchFamily="34" charset="0"/>
                <a:ea typeface="Calibri" pitchFamily="34" charset="-122"/>
                <a:cs typeface="Calibri" pitchFamily="34" charset="-120"/>
              </a:rPr>
              <a:t> · (P(y) − P(−y)) / (2y)</a:t>
            </a:r>
            <a:endParaRPr lang="en-US" sz="14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4096 → 2048 → … → 8 values; the last 8 are equal and one is sent.</a:t>
            </a:r>
            <a:endParaRPr lang="en-US" sz="1400" dirty="0"/>
          </a:p>
        </p:txBody>
      </p:sp>
      <p:sp>
        <p:nvSpPr>
          <p:cNvPr id="12" name="Text 10"/>
          <p:cNvSpPr txBox="1"/>
          <p:nvPr/>
        </p:nvSpPr>
        <p:spPr>
          <a:xfrm>
            <a:off x="8579815" y="1965960"/>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Each fold halves the degree. ξ</a:t>
            </a:r>
            <a:pPr indent="0" marL="0">
              <a:buNone/>
            </a:pPr>
            <a:r>
              <a:rPr lang="en-US" sz="1400" baseline="-40000" dirty="0">
                <a:solidFill>
                  <a:schemeClr val="tx2"/>
                </a:solidFill>
                <a:latin typeface="Calibri" pitchFamily="34" charset="0"/>
                <a:ea typeface="Calibri" pitchFamily="34" charset="-122"/>
                <a:cs typeface="Calibri" pitchFamily="34" charset="-120"/>
              </a:rPr>
              <a:t>i</a:t>
            </a:r>
            <a:pPr indent="0" marL="0">
              <a:buNone/>
            </a:pPr>
            <a:r>
              <a:rPr lang="en-US" sz="1400" dirty="0">
                <a:solidFill>
                  <a:schemeClr val="tx2"/>
                </a:solidFill>
                <a:latin typeface="Calibri" pitchFamily="34" charset="0"/>
                <a:ea typeface="Calibri" pitchFamily="34" charset="-122"/>
                <a:cs typeface="Calibri" pitchFamily="34" charset="-120"/>
              </a:rPr>
              <a:t> is derived after the layer is committed.</a:t>
            </a:r>
            <a:endParaRPr lang="en-US" sz="1400" dirty="0"/>
          </a:p>
        </p:txBody>
      </p:sp>
      <p:sp>
        <p:nvSpPr>
          <p:cNvPr id="13" name="step 5"/>
          <p:cNvSpPr/>
          <p:nvPr/>
        </p:nvSpPr>
        <p:spPr>
          <a:xfrm>
            <a:off x="548640" y="3273552"/>
            <a:ext cx="11094415" cy="1325880"/>
          </a:xfrm>
          <a:prstGeom prst="roundRect">
            <a:avLst>
              <a:gd name="adj" fmla="val 5517"/>
            </a:avLst>
          </a:prstGeom>
          <a:solidFill>
            <a:schemeClr val="bg2"/>
          </a:solidFill>
          <a:ln w="12700">
            <a:solidFill>
              <a:schemeClr val="bg2"/>
            </a:solidFill>
            <a:prstDash val="solid"/>
          </a:ln>
        </p:spPr>
      </p:sp>
      <p:sp>
        <p:nvSpPr>
          <p:cNvPr id="14" name="num 5"/>
          <p:cNvSpPr/>
          <p:nvPr/>
        </p:nvSpPr>
        <p:spPr>
          <a:xfrm>
            <a:off x="731520" y="3456432"/>
            <a:ext cx="411480" cy="411480"/>
          </a:xfrm>
          <a:prstGeom prst="ellipse">
            <a:avLst/>
          </a:prstGeom>
          <a:solidFill>
            <a:schemeClr val="tx1"/>
          </a:solidFill>
          <a:ln w="12700">
            <a:solidFill>
              <a:schemeClr val="tx1"/>
            </a:solidFill>
            <a:prstDash val="solid"/>
          </a:ln>
        </p:spPr>
      </p:sp>
      <p:sp>
        <p:nvSpPr>
          <p:cNvPr id="15" name="Text 13"/>
          <p:cNvSpPr txBox="1"/>
          <p:nvPr/>
        </p:nvSpPr>
        <p:spPr>
          <a:xfrm>
            <a:off x="731520" y="345643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5</a:t>
            </a:r>
            <a:endParaRPr lang="en-US" sz="1400" dirty="0"/>
          </a:p>
        </p:txBody>
      </p:sp>
      <p:sp>
        <p:nvSpPr>
          <p:cNvPr id="16" name="Text 14"/>
          <p:cNvSpPr txBox="1"/>
          <p:nvPr/>
        </p:nvSpPr>
        <p:spPr>
          <a:xfrm>
            <a:off x="1280160" y="3456432"/>
            <a:ext cx="1600200" cy="9601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Select queries</a:t>
            </a:r>
            <a:endParaRPr lang="en-US" sz="1500" dirty="0"/>
          </a:p>
        </p:txBody>
      </p:sp>
      <p:sp>
        <p:nvSpPr>
          <p:cNvPr id="17" name="Text 15"/>
          <p:cNvSpPr txBox="1"/>
          <p:nvPr/>
        </p:nvSpPr>
        <p:spPr>
          <a:xfrm>
            <a:off x="3154680" y="3456432"/>
            <a:ext cx="5150815"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86 positions from H(s</a:t>
            </a:r>
            <a:pPr indent="0" marL="0">
              <a:buNone/>
            </a:pPr>
            <a:r>
              <a:rPr lang="en-US" sz="1400" baseline="-40000" dirty="0">
                <a:solidFill>
                  <a:schemeClr val="tx1"/>
                </a:solidFill>
                <a:latin typeface="Calibri" pitchFamily="34" charset="0"/>
                <a:ea typeface="Calibri" pitchFamily="34" charset="-122"/>
                <a:cs typeface="Calibri" pitchFamily="34" charset="-120"/>
              </a:rPr>
              <a:t>0</a:t>
            </a:r>
            <a:pPr indent="0" marL="0">
              <a:buNone/>
            </a:pPr>
            <a:r>
              <a:rPr lang="en-US" sz="1400" dirty="0">
                <a:solidFill>
                  <a:schemeClr val="tx1"/>
                </a:solidFill>
                <a:latin typeface="Calibri" pitchFamily="34" charset="0"/>
                <a:ea typeface="Calibri" pitchFamily="34" charset="-122"/>
                <a:cs typeface="Calibri" pitchFamily="34" charset="-120"/>
              </a:rPr>
              <a:t> ‖ j), with s</a:t>
            </a:r>
            <a:pPr indent="0" marL="0">
              <a:buNone/>
            </a:pPr>
            <a:r>
              <a:rPr lang="en-US" sz="1400" baseline="-40000" dirty="0">
                <a:solidFill>
                  <a:schemeClr val="tx1"/>
                </a:solidFill>
                <a:latin typeface="Calibri" pitchFamily="34" charset="0"/>
                <a:ea typeface="Calibri" pitchFamily="34" charset="-122"/>
                <a:cs typeface="Calibri" pitchFamily="34" charset="-120"/>
              </a:rPr>
              <a:t>0</a:t>
            </a:r>
            <a:pPr indent="0" marL="0">
              <a:buNone/>
            </a:pPr>
            <a:r>
              <a:rPr lang="en-US" sz="1400" dirty="0">
                <a:solidFill>
                  <a:schemeClr val="tx1"/>
                </a:solidFill>
                <a:latin typeface="Calibri" pitchFamily="34" charset="0"/>
                <a:ea typeface="Calibri" pitchFamily="34" charset="-122"/>
                <a:cs typeface="Calibri" pitchFamily="34" charset="-120"/>
              </a:rPr>
              <a:t> derived after the final value. Per query: the pair (y, −y) in the five layer-0 trees and one pair in each of layers 1–8, with Merkle paths.</a:t>
            </a:r>
            <a:endParaRPr lang="en-US" sz="1400" dirty="0"/>
          </a:p>
        </p:txBody>
      </p:sp>
      <p:sp>
        <p:nvSpPr>
          <p:cNvPr id="18" name="Text 16"/>
          <p:cNvSpPr txBox="1"/>
          <p:nvPr/>
        </p:nvSpPr>
        <p:spPr>
          <a:xfrm>
            <a:off x="8579815" y="3456432"/>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Positions are fixed only after every layer is committed.</a:t>
            </a:r>
            <a:endParaRPr lang="en-US" sz="1400" dirty="0"/>
          </a:p>
        </p:txBody>
      </p:sp>
      <p:sp>
        <p:nvSpPr>
          <p:cNvPr id="19" name="step V"/>
          <p:cNvSpPr/>
          <p:nvPr/>
        </p:nvSpPr>
        <p:spPr>
          <a:xfrm>
            <a:off x="548640" y="4764024"/>
            <a:ext cx="11094415" cy="1325880"/>
          </a:xfrm>
          <a:prstGeom prst="roundRect">
            <a:avLst>
              <a:gd name="adj" fmla="val 5517"/>
            </a:avLst>
          </a:prstGeom>
          <a:solidFill>
            <a:schemeClr val="bg2"/>
          </a:solidFill>
          <a:ln w="12700">
            <a:solidFill>
              <a:schemeClr val="bg2"/>
            </a:solidFill>
            <a:prstDash val="solid"/>
          </a:ln>
        </p:spPr>
      </p:sp>
      <p:sp>
        <p:nvSpPr>
          <p:cNvPr id="20" name="num V"/>
          <p:cNvSpPr/>
          <p:nvPr/>
        </p:nvSpPr>
        <p:spPr>
          <a:xfrm>
            <a:off x="731520" y="4946904"/>
            <a:ext cx="411480" cy="411480"/>
          </a:xfrm>
          <a:prstGeom prst="ellipse">
            <a:avLst/>
          </a:prstGeom>
          <a:solidFill>
            <a:schemeClr val="tx1"/>
          </a:solidFill>
          <a:ln w="12700">
            <a:solidFill>
              <a:schemeClr val="tx1"/>
            </a:solidFill>
            <a:prstDash val="solid"/>
          </a:ln>
        </p:spPr>
      </p:sp>
      <p:sp>
        <p:nvSpPr>
          <p:cNvPr id="21" name="Text 19"/>
          <p:cNvSpPr txBox="1"/>
          <p:nvPr/>
        </p:nvSpPr>
        <p:spPr>
          <a:xfrm>
            <a:off x="731520" y="494690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V</a:t>
            </a:r>
            <a:endParaRPr lang="en-US" sz="1400" dirty="0"/>
          </a:p>
        </p:txBody>
      </p:sp>
      <p:sp>
        <p:nvSpPr>
          <p:cNvPr id="22" name="Text 20"/>
          <p:cNvSpPr txBox="1"/>
          <p:nvPr/>
        </p:nvSpPr>
        <p:spPr>
          <a:xfrm>
            <a:off x="1280160" y="4946904"/>
            <a:ext cx="1600200" cy="9601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Verify each query</a:t>
            </a:r>
            <a:endParaRPr lang="en-US" sz="1500" dirty="0"/>
          </a:p>
        </p:txBody>
      </p:sp>
      <p:sp>
        <p:nvSpPr>
          <p:cNvPr id="23" name="Text 21"/>
          <p:cNvSpPr txBox="1"/>
          <p:nvPr/>
        </p:nvSpPr>
        <p:spPr>
          <a:xfrm>
            <a:off x="3154680" y="4946904"/>
            <a:ext cx="5150815"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Check the Merkle paths, compute q(±y) from the opened leaves, then fold layer by layer, comparing each result with the opened value of the next layer and finally with the sent constant.</a:t>
            </a:r>
            <a:endParaRPr lang="en-US" sz="1400" dirty="0"/>
          </a:p>
        </p:txBody>
      </p:sp>
      <p:sp>
        <p:nvSpPr>
          <p:cNvPr id="24" name="Text 22"/>
          <p:cNvSpPr txBox="1"/>
          <p:nvPr/>
        </p:nvSpPr>
        <p:spPr>
          <a:xfrm>
            <a:off x="8579815" y="4946904"/>
            <a:ext cx="3063240" cy="105156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Soundness bound (√ρ)⁸⁶ ≈ 2⁻¹²⁹ (BCIKS20, Thm 8.3).</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RESULTS</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Comparison with KZG and next steps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760720" cy="914400"/>
        </p:xfrm>
        <a:graphic>
          <a:graphicData uri="http://schemas.openxmlformats.org/drawingml/2006/table">
            <a:tbl>
              <a:tblPr/>
              <a:tblGrid>
                <a:gridCol w="1920240"/>
                <a:gridCol w="2011680"/>
                <a:gridCol w="1828800"/>
              </a:tblGrid>
              <a:tr h="50292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65,534 constraints</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FRI-PLONK</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KZG PLONK</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tx2"/>
                    </a:solidFill>
                  </a:tcPr>
                </a:tc>
              </a:tr>
              <a:tr h="5029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Proof size</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latin typeface="Calibri" pitchFamily="34" charset="0"/>
                          <a:ea typeface="Calibri" pitchFamily="34" charset="-122"/>
                          <a:cs typeface="Calibri" pitchFamily="34" charset="-120"/>
                        </a:rPr>
                        <a:t>0.90 MB</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&lt; 1 KB</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5029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Prover time</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2.10 s</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0.65 s</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5029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Verifier time</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4.9 ms</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1.3 ms</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r h="5029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Trusted setup</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Not required</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Required</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2"/>
                    </a:solidFill>
                  </a:tcPr>
                </a:tc>
              </a:tr>
              <a:tr h="5029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Post-quantum</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Plausible (hash-based)</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 (pairings)</a:t>
                      </a:r>
                      <a:endParaRPr lang="en-US" sz="1500" dirty="0">
                        <a:latin typeface="Calibri" charset="0"/>
                        <a:ea typeface="Calibri" charset="0"/>
                        <a:cs typeface="Calibri" charset="0"/>
                      </a:endParaRPr>
                    </a:p>
                  </a:txBody>
                  <a:tcPr marL="76200" marR="76200" marT="38100" marB="38100"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4983480"/>
            <a:ext cx="5760720" cy="548640"/>
          </a:xfrm>
          <a:prstGeom prst="rect">
            <a:avLst/>
          </a:prstGeom>
          <a:noFill/>
          <a:ln/>
        </p:spPr>
        <p:txBody>
          <a:bodyPr wrap="square" lIns="0" tIns="0" rIns="0" bIns="0" rtlCol="0" anchor="t"/>
          <a:lstStyle/>
          <a:p>
            <a:pPr indent="0" marL="0">
              <a:spcAft>
                <a:spcPts val="400"/>
              </a:spcAft>
              <a:buNone/>
            </a:pPr>
            <a:r>
              <a:rPr lang="en-US" sz="1200" dirty="0">
                <a:solidFill>
                  <a:schemeClr val="tx2"/>
                </a:solidFill>
                <a:latin typeface="Calibri" pitchFamily="34" charset="0"/>
                <a:ea typeface="Calibri" pitchFamily="34" charset="-122"/>
                <a:cs typeface="Calibri" pitchFamily="34" charset="-120"/>
              </a:rPr>
              <a:t>Since restoration (65,534 constraints): prover 9.2 s → 2.10 s; verifier 1.0 ms with one insecure query → 4.9 ms with 86.</a:t>
            </a:r>
            <a:endParaRPr lang="en-US" sz="1200" dirty="0"/>
          </a:p>
        </p:txBody>
      </p:sp>
      <p:sp>
        <p:nvSpPr>
          <p:cNvPr id="6" name="Text 3"/>
          <p:cNvSpPr txBox="1"/>
          <p:nvPr/>
        </p:nvSpPr>
        <p:spPr>
          <a:xfrm>
            <a:off x="6766560" y="1783080"/>
            <a:ext cx="4876495"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Next steps</a:t>
            </a:r>
            <a:endParaRPr lang="en-US" sz="1800" dirty="0"/>
          </a:p>
        </p:txBody>
      </p:sp>
      <p:sp>
        <p:nvSpPr>
          <p:cNvPr id="7" name="step Before any use"/>
          <p:cNvSpPr/>
          <p:nvPr/>
        </p:nvSpPr>
        <p:spPr>
          <a:xfrm>
            <a:off x="6766560" y="2240280"/>
            <a:ext cx="4876495" cy="841248"/>
          </a:xfrm>
          <a:prstGeom prst="roundRect">
            <a:avLst>
              <a:gd name="adj" fmla="val 8696"/>
            </a:avLst>
          </a:prstGeom>
          <a:solidFill>
            <a:schemeClr val="bg2"/>
          </a:solidFill>
          <a:ln w="12700">
            <a:solidFill>
              <a:schemeClr val="bg2"/>
            </a:solidFill>
            <a:prstDash val="solid"/>
          </a:ln>
        </p:spPr>
      </p:sp>
      <p:sp>
        <p:nvSpPr>
          <p:cNvPr id="8" name="Text 5"/>
          <p:cNvSpPr txBox="1"/>
          <p:nvPr/>
        </p:nvSpPr>
        <p:spPr>
          <a:xfrm>
            <a:off x="6995160" y="2331720"/>
            <a:ext cx="4419295" cy="274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Before any use</a:t>
            </a:r>
            <a:endParaRPr lang="en-US" sz="1400" dirty="0"/>
          </a:p>
        </p:txBody>
      </p:sp>
      <p:sp>
        <p:nvSpPr>
          <p:cNvPr id="9" name="Text 6"/>
          <p:cNvSpPr txBox="1"/>
          <p:nvPr/>
        </p:nvSpPr>
        <p:spPr>
          <a:xfrm>
            <a:off x="6995160" y="2642616"/>
            <a:ext cx="4419295"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Proof serialization, thread safety</a:t>
            </a:r>
            <a:endParaRPr lang="en-US" sz="1400" dirty="0"/>
          </a:p>
        </p:txBody>
      </p:sp>
      <p:sp>
        <p:nvSpPr>
          <p:cNvPr id="10" name="step Proof size"/>
          <p:cNvSpPr/>
          <p:nvPr/>
        </p:nvSpPr>
        <p:spPr>
          <a:xfrm>
            <a:off x="6766560" y="3291840"/>
            <a:ext cx="4876495" cy="841248"/>
          </a:xfrm>
          <a:prstGeom prst="roundRect">
            <a:avLst>
              <a:gd name="adj" fmla="val 8696"/>
            </a:avLst>
          </a:prstGeom>
          <a:solidFill>
            <a:schemeClr val="bg2"/>
          </a:solidFill>
          <a:ln w="12700">
            <a:solidFill>
              <a:schemeClr val="bg2"/>
            </a:solidFill>
            <a:prstDash val="solid"/>
          </a:ln>
        </p:spPr>
      </p:sp>
      <p:sp>
        <p:nvSpPr>
          <p:cNvPr id="11" name="Text 8"/>
          <p:cNvSpPr txBox="1"/>
          <p:nvPr/>
        </p:nvSpPr>
        <p:spPr>
          <a:xfrm>
            <a:off x="6995160" y="3383280"/>
            <a:ext cx="4419295" cy="274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Proof size</a:t>
            </a:r>
            <a:endParaRPr lang="en-US" sz="1400" dirty="0"/>
          </a:p>
        </p:txBody>
      </p:sp>
      <p:sp>
        <p:nvSpPr>
          <p:cNvPr id="12" name="Text 9"/>
          <p:cNvSpPr txBox="1"/>
          <p:nvPr/>
        </p:nvSpPr>
        <p:spPr>
          <a:xfrm>
            <a:off x="6995160" y="3694176"/>
            <a:ext cx="4419295"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Shared Merkle paths, grinding; WHIR</a:t>
            </a:r>
            <a:endParaRPr lang="en-US" sz="1400" dirty="0"/>
          </a:p>
        </p:txBody>
      </p:sp>
      <p:sp>
        <p:nvSpPr>
          <p:cNvPr id="13" name="step Later"/>
          <p:cNvSpPr/>
          <p:nvPr/>
        </p:nvSpPr>
        <p:spPr>
          <a:xfrm>
            <a:off x="6766560" y="4343400"/>
            <a:ext cx="4876495" cy="841248"/>
          </a:xfrm>
          <a:prstGeom prst="roundRect">
            <a:avLst>
              <a:gd name="adj" fmla="val 8696"/>
            </a:avLst>
          </a:prstGeom>
          <a:solidFill>
            <a:schemeClr val="bg2"/>
          </a:solidFill>
          <a:ln w="12700">
            <a:solidFill>
              <a:schemeClr val="bg2"/>
            </a:solidFill>
            <a:prstDash val="solid"/>
          </a:ln>
        </p:spPr>
      </p:sp>
      <p:sp>
        <p:nvSpPr>
          <p:cNvPr id="14" name="Text 11"/>
          <p:cNvSpPr txBox="1"/>
          <p:nvPr/>
        </p:nvSpPr>
        <p:spPr>
          <a:xfrm>
            <a:off x="6995160" y="4434840"/>
            <a:ext cx="4419295" cy="274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Later</a:t>
            </a:r>
            <a:endParaRPr lang="en-US" sz="1400" dirty="0"/>
          </a:p>
        </p:txBody>
      </p:sp>
      <p:sp>
        <p:nvSpPr>
          <p:cNvPr id="15" name="Text 12"/>
          <p:cNvSpPr txBox="1"/>
          <p:nvPr/>
        </p:nvSpPr>
        <p:spPr>
          <a:xfrm>
            <a:off x="6995160" y="4745736"/>
            <a:ext cx="4419295"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In-circuit verifier for recursion</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11094415" cy="256032"/>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3 · ZERO-KNOWLEDGE</a:t>
            </a:r>
            <a:endParaRPr lang="en-US" sz="1200" dirty="0"/>
          </a:p>
        </p:txBody>
      </p:sp>
      <p:sp>
        <p:nvSpPr>
          <p:cNvPr id="3" name="Text 0"/>
          <p:cNvSpPr/>
          <p:nvPr>
            <p:ph idx="100" type="title" hasCustomPrompt="1"/>
          </p:nvPr>
        </p:nvSpPr>
        <p:spPr>
          <a:xfrm>
            <a:off x="548640" y="566928"/>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the proof hides the secret inputs</a:t>
            </a:r>
            <a:endParaRPr lang="en-US" sz="3200" dirty="0"/>
          </a:p>
        </p:txBody>
      </p:sp>
      <p:sp>
        <p:nvSpPr>
          <p:cNvPr id="4" name="Text 2"/>
          <p:cNvSpPr txBox="1"/>
          <p:nvPr/>
        </p:nvSpPr>
        <p:spPr>
          <a:xfrm>
            <a:off x="1234440" y="1417320"/>
            <a:ext cx="164592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Step</a:t>
            </a:r>
            <a:endParaRPr lang="en-US" sz="1200" dirty="0"/>
          </a:p>
        </p:txBody>
      </p:sp>
      <p:sp>
        <p:nvSpPr>
          <p:cNvPr id="5" name="Text 3"/>
          <p:cNvSpPr txBox="1"/>
          <p:nvPr/>
        </p:nvSpPr>
        <p:spPr>
          <a:xfrm>
            <a:off x="3154680" y="1417320"/>
            <a:ext cx="5150815"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What we do</a:t>
            </a:r>
            <a:endParaRPr lang="en-US" sz="1200" dirty="0"/>
          </a:p>
        </p:txBody>
      </p:sp>
      <p:sp>
        <p:nvSpPr>
          <p:cNvPr id="6" name="Text 4"/>
          <p:cNvSpPr txBox="1"/>
          <p:nvPr/>
        </p:nvSpPr>
        <p:spPr>
          <a:xfrm>
            <a:off x="8579815" y="1417320"/>
            <a:ext cx="306324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Result</a:t>
            </a:r>
            <a:endParaRPr lang="en-US" sz="1200" dirty="0"/>
          </a:p>
        </p:txBody>
      </p:sp>
      <p:sp>
        <p:nvSpPr>
          <p:cNvPr id="7" name="step 1"/>
          <p:cNvSpPr/>
          <p:nvPr/>
        </p:nvSpPr>
        <p:spPr>
          <a:xfrm>
            <a:off x="548640" y="1783080"/>
            <a:ext cx="11094415" cy="1143000"/>
          </a:xfrm>
          <a:prstGeom prst="roundRect">
            <a:avLst>
              <a:gd name="adj" fmla="val 6400"/>
            </a:avLst>
          </a:prstGeom>
          <a:solidFill>
            <a:schemeClr val="bg2"/>
          </a:solidFill>
          <a:ln w="12700">
            <a:solidFill>
              <a:schemeClr val="bg2"/>
            </a:solidFill>
            <a:prstDash val="solid"/>
          </a:ln>
        </p:spPr>
      </p:sp>
      <p:sp>
        <p:nvSpPr>
          <p:cNvPr id="8" name="num 1"/>
          <p:cNvSpPr/>
          <p:nvPr/>
        </p:nvSpPr>
        <p:spPr>
          <a:xfrm>
            <a:off x="731520" y="1965960"/>
            <a:ext cx="411480" cy="411480"/>
          </a:xfrm>
          <a:prstGeom prst="ellipse">
            <a:avLst/>
          </a:prstGeom>
          <a:solidFill>
            <a:schemeClr val="tx1"/>
          </a:solidFill>
          <a:ln w="12700">
            <a:solidFill>
              <a:schemeClr val="tx1"/>
            </a:solidFill>
            <a:prstDash val="solid"/>
          </a:ln>
        </p:spPr>
      </p:sp>
      <p:sp>
        <p:nvSpPr>
          <p:cNvPr id="9" name="Text 7"/>
          <p:cNvSpPr txBox="1"/>
          <p:nvPr/>
        </p:nvSpPr>
        <p:spPr>
          <a:xfrm>
            <a:off x="731520" y="1965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280160" y="1965960"/>
            <a:ext cx="1600200" cy="7772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Add noise</a:t>
            </a:r>
            <a:endParaRPr lang="en-US" sz="1500" dirty="0"/>
          </a:p>
        </p:txBody>
      </p:sp>
      <p:sp>
        <p:nvSpPr>
          <p:cNvPr id="11" name="Text 9"/>
          <p:cNvSpPr txBox="1"/>
          <p:nvPr/>
        </p:nvSpPr>
        <p:spPr>
          <a:xfrm>
            <a:off x="3154680" y="1965960"/>
            <a:ext cx="51508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Add random noise to each secret polynomial. The noise is zero on the circuit rows, so the circuit is unchanged.</a:t>
            </a:r>
            <a:endParaRPr lang="en-US" sz="1400" dirty="0"/>
          </a:p>
        </p:txBody>
      </p:sp>
      <p:sp>
        <p:nvSpPr>
          <p:cNvPr id="12" name="Text 10"/>
          <p:cNvSpPr txBox="1"/>
          <p:nvPr/>
        </p:nvSpPr>
        <p:spPr>
          <a:xfrm>
            <a:off x="8579815" y="1965960"/>
            <a:ext cx="3063240" cy="86868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Every value the verifier sees is random.</a:t>
            </a:r>
            <a:endParaRPr lang="en-US" sz="1400" dirty="0"/>
          </a:p>
        </p:txBody>
      </p:sp>
      <p:sp>
        <p:nvSpPr>
          <p:cNvPr id="13" name="step 2"/>
          <p:cNvSpPr/>
          <p:nvPr/>
        </p:nvSpPr>
        <p:spPr>
          <a:xfrm>
            <a:off x="548640" y="3090672"/>
            <a:ext cx="11094415" cy="1143000"/>
          </a:xfrm>
          <a:prstGeom prst="roundRect">
            <a:avLst>
              <a:gd name="adj" fmla="val 6400"/>
            </a:avLst>
          </a:prstGeom>
          <a:solidFill>
            <a:schemeClr val="bg2"/>
          </a:solidFill>
          <a:ln w="12700">
            <a:solidFill>
              <a:schemeClr val="bg2"/>
            </a:solidFill>
            <a:prstDash val="solid"/>
          </a:ln>
        </p:spPr>
      </p:sp>
      <p:sp>
        <p:nvSpPr>
          <p:cNvPr id="14" name="num 2"/>
          <p:cNvSpPr/>
          <p:nvPr/>
        </p:nvSpPr>
        <p:spPr>
          <a:xfrm>
            <a:off x="731520" y="3273552"/>
            <a:ext cx="411480" cy="411480"/>
          </a:xfrm>
          <a:prstGeom prst="ellipse">
            <a:avLst/>
          </a:prstGeom>
          <a:solidFill>
            <a:schemeClr val="tx1"/>
          </a:solidFill>
          <a:ln w="12700">
            <a:solidFill>
              <a:schemeClr val="tx1"/>
            </a:solidFill>
            <a:prstDash val="solid"/>
          </a:ln>
        </p:spPr>
      </p:sp>
      <p:sp>
        <p:nvSpPr>
          <p:cNvPr id="15" name="Text 13"/>
          <p:cNvSpPr txBox="1"/>
          <p:nvPr/>
        </p:nvSpPr>
        <p:spPr>
          <a:xfrm>
            <a:off x="731520" y="327355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6" name="Text 14"/>
          <p:cNvSpPr txBox="1"/>
          <p:nvPr/>
        </p:nvSpPr>
        <p:spPr>
          <a:xfrm>
            <a:off x="1280160" y="3273552"/>
            <a:ext cx="1600200" cy="7772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Mask FRI</a:t>
            </a:r>
            <a:endParaRPr lang="en-US" sz="1500" dirty="0"/>
          </a:p>
        </p:txBody>
      </p:sp>
      <p:sp>
        <p:nvSpPr>
          <p:cNvPr id="17" name="Text 15"/>
          <p:cNvSpPr txBox="1"/>
          <p:nvPr/>
        </p:nvSpPr>
        <p:spPr>
          <a:xfrm>
            <a:off x="3154680" y="3273552"/>
            <a:ext cx="51508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Add one extra random polynomial before FRI starts.</a:t>
            </a:r>
            <a:endParaRPr lang="en-US" sz="1400" dirty="0"/>
          </a:p>
        </p:txBody>
      </p:sp>
      <p:sp>
        <p:nvSpPr>
          <p:cNvPr id="18" name="Text 16"/>
          <p:cNvSpPr txBox="1"/>
          <p:nvPr/>
        </p:nvSpPr>
        <p:spPr>
          <a:xfrm>
            <a:off x="8579815" y="3273552"/>
            <a:ext cx="3063240" cy="86868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Every value FRI reveals is random.</a:t>
            </a:r>
            <a:endParaRPr lang="en-US" sz="1400" dirty="0"/>
          </a:p>
        </p:txBody>
      </p:sp>
      <p:sp>
        <p:nvSpPr>
          <p:cNvPr id="19" name="step 3"/>
          <p:cNvSpPr/>
          <p:nvPr/>
        </p:nvSpPr>
        <p:spPr>
          <a:xfrm>
            <a:off x="548640" y="4398264"/>
            <a:ext cx="11094415" cy="1143000"/>
          </a:xfrm>
          <a:prstGeom prst="roundRect">
            <a:avLst>
              <a:gd name="adj" fmla="val 6400"/>
            </a:avLst>
          </a:prstGeom>
          <a:solidFill>
            <a:schemeClr val="bg2"/>
          </a:solidFill>
          <a:ln w="12700">
            <a:solidFill>
              <a:schemeClr val="bg2"/>
            </a:solidFill>
            <a:prstDash val="solid"/>
          </a:ln>
        </p:spPr>
      </p:sp>
      <p:sp>
        <p:nvSpPr>
          <p:cNvPr id="20" name="num 3"/>
          <p:cNvSpPr/>
          <p:nvPr/>
        </p:nvSpPr>
        <p:spPr>
          <a:xfrm>
            <a:off x="731520" y="4581144"/>
            <a:ext cx="411480" cy="411480"/>
          </a:xfrm>
          <a:prstGeom prst="ellipse">
            <a:avLst/>
          </a:prstGeom>
          <a:solidFill>
            <a:schemeClr val="tx1"/>
          </a:solidFill>
          <a:ln w="12700">
            <a:solidFill>
              <a:schemeClr val="tx1"/>
            </a:solidFill>
            <a:prstDash val="solid"/>
          </a:ln>
        </p:spPr>
      </p:sp>
      <p:sp>
        <p:nvSpPr>
          <p:cNvPr id="21" name="Text 19"/>
          <p:cNvSpPr txBox="1"/>
          <p:nvPr/>
        </p:nvSpPr>
        <p:spPr>
          <a:xfrm>
            <a:off x="731520" y="458114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22" name="Text 20"/>
          <p:cNvSpPr txBox="1"/>
          <p:nvPr/>
        </p:nvSpPr>
        <p:spPr>
          <a:xfrm>
            <a:off x="1280160" y="4581144"/>
            <a:ext cx="1600200" cy="7772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Split randomly</a:t>
            </a:r>
            <a:endParaRPr lang="en-US" sz="1500" dirty="0"/>
          </a:p>
        </p:txBody>
      </p:sp>
      <p:sp>
        <p:nvSpPr>
          <p:cNvPr id="23" name="Text 21"/>
          <p:cNvSpPr txBox="1"/>
          <p:nvPr/>
        </p:nvSpPr>
        <p:spPr>
          <a:xfrm>
            <a:off x="3154680" y="4581144"/>
            <a:ext cx="51508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Cut h into three pieces; add a random amount to one piece and subtract it from the next.</a:t>
            </a:r>
            <a:endParaRPr lang="en-US" sz="1400" dirty="0"/>
          </a:p>
        </p:txBody>
      </p:sp>
      <p:sp>
        <p:nvSpPr>
          <p:cNvPr id="24" name="Text 22"/>
          <p:cNvSpPr txBox="1"/>
          <p:nvPr/>
        </p:nvSpPr>
        <p:spPr>
          <a:xfrm>
            <a:off x="8579815" y="4581144"/>
            <a:ext cx="3063240" cy="86868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Each piece looks random; together they still equal h.</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
        <p:nvSpPr>
          <p:cNvPr id="40" name="Principle"/>
          <p:cNvSpPr txBox="1"/>
          <p:nvPr/>
        </p:nvSpPr>
        <p:spPr>
          <a:xfrm>
            <a:off x="548640" y="5687568"/>
            <a:ext cx="11094415" cy="621792"/>
          </a:xfrm>
          <a:prstGeom prst="rect">
            <a:avLst/>
          </a:prstGeom>
          <a:noFill/>
          <a:ln/>
        </p:spPr>
        <p:txBody>
          <a:bodyPr wrap="square" lIns="0" tIns="0" rIns="0" bIns="0" rtlCol="0" anchor="ctr"/>
          <a:lstStyle/>
          <a:p>
            <a:pPr indent="0" marL="0">
              <a:buNone/>
            </a:pPr>
            <a:r>
              <a:rPr lang="en-US" sz="1400" b="1" dirty="0">
                <a:solidFill>
                  <a:schemeClr val="accent6"/>
                </a:solidFill>
                <a:latin typeface="Calibri" pitchFamily="34" charset="0"/>
                <a:ea typeface="Calibri" pitchFamily="34" charset="-122"/>
                <a:cs typeface="Calibri" pitchFamily="34" charset="-120"/>
              </a:rPr>
              <a:t>Why it works:  </a:t>
            </a:r>
            <a:r>
              <a:rPr lang="en-US" sz="1400" dirty="0">
                <a:solidFill>
                  <a:schemeClr val="tx1"/>
                </a:solidFill>
                <a:latin typeface="Calibri" pitchFamily="34" charset="0"/>
                <a:ea typeface="Calibri" pitchFamily="34" charset="-122"/>
                <a:cs typeface="Calibri" pitchFamily="34" charset="-120"/>
              </a:rPr>
              <a:t>the verifier sees each polynomial at no more than 174 points, so 174 random numbers are enough to hide it. Method from Haböck and Al Kindi (2024).</a:t>
            </a:r>
            <a:endParaRPr lang="en-US" sz="1400" dirty="0"/>
          </a:p>
        </p:txBody>
      </p:sp>
    </p:spTree>
  </p:cSld>
  <p:clrMapOvr>
    <a:masterClrMapping/>
  </p:clrMapOvr>
</p:sld>
</file>

<file path=ppt/theme/theme1.xml><?xml version="1.0" encoding="utf-8"?>
<a:theme xmlns:a="http://schemas.openxmlformats.org/drawingml/2006/main" name="FRI-PLONK">
  <a:themeElements>
    <a:clrScheme name="FRI-PLONK">
      <a:dk1>
        <a:srgbClr val="1B2430"/>
      </a:dk1>
      <a:lt1>
        <a:srgbClr val="FFFFFF"/>
      </a:lt1>
      <a:dk2>
        <a:srgbClr val="3A4656"/>
      </a:dk2>
      <a:lt2>
        <a:srgbClr val="EEF1F4"/>
      </a:lt2>
      <a:accent1>
        <a:srgbClr val="B8641A"/>
      </a:accent1>
      <a:accent2>
        <a:srgbClr val="2F7D74"/>
      </a:accent2>
      <a:accent3>
        <a:srgbClr val="9B3B36"/>
      </a:accent3>
      <a:accent4>
        <a:srgbClr val="5B6B80"/>
      </a:accent4>
      <a:accent5>
        <a:srgbClr val="8A96A6"/>
      </a:accent5>
      <a:accent6>
        <a:srgbClr val="D9A441"/>
      </a:accent6>
      <a:hlink>
        <a:srgbClr val="2F7D74"/>
      </a:hlink>
      <a:folHlink>
        <a:srgbClr val="5B6B80"/>
      </a:folHlink>
    </a:clrScheme>
    <a:fontScheme name="FRI-PLO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FRI-PLONK in gnark</dc:title>
  <dc:subject>PptxGenJS Presentation</dc:subject>
  <dc:creator>Kai De Windt</dc:creator>
  <cp:lastModifiedBy>Kai De Windt</cp:lastModifiedBy>
  <cp:revision>1</cp:revision>
  <dcterms:created xsi:type="dcterms:W3CDTF">2026-10-20T23:38:16Z</dcterms:created>
  <dcterms:modified xsi:type="dcterms:W3CDTF">2026-10-20T23:38:16Z</dcterms:modified>
</cp:coreProperties>
</file>